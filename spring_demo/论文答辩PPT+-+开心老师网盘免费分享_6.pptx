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9"/>
  </p:handoutMasterIdLst>
  <p:sldIdLst>
    <p:sldId id="334" r:id="rId3"/>
    <p:sldId id="273" r:id="rId5"/>
    <p:sldId id="469" r:id="rId6"/>
    <p:sldId id="536" r:id="rId7"/>
    <p:sldId id="537" r:id="rId8"/>
  </p:sldIdLst>
  <p:sldSz cx="9144000" cy="5143500" type="screen16x9"/>
  <p:notesSz cx="6858000" cy="9144000"/>
  <p:custDataLst>
    <p:tags r:id="rId13"/>
  </p:custDataLst>
  <p:defaultTextStyle>
    <a:defPPr>
      <a:defRPr lang="zh-CN"/>
    </a:defPPr>
    <a:lvl1pPr marL="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637" userDrawn="1">
          <p15:clr>
            <a:srgbClr val="A4A3A4"/>
          </p15:clr>
        </p15:guide>
        <p15:guide id="4" orient="horz" pos="680" userDrawn="1">
          <p15:clr>
            <a:srgbClr val="A4A3A4"/>
          </p15:clr>
        </p15:guide>
        <p15:guide id="5" orient="horz" pos="2927" userDrawn="1">
          <p15:clr>
            <a:srgbClr val="A4A3A4"/>
          </p15:clr>
        </p15:guide>
        <p15:guide id="6" pos="2881" userDrawn="1">
          <p15:clr>
            <a:srgbClr val="A4A3A4"/>
          </p15:clr>
        </p15:guide>
        <p15:guide id="7" pos="340" userDrawn="1">
          <p15:clr>
            <a:srgbClr val="A4A3A4"/>
          </p15:clr>
        </p15:guide>
        <p15:guide id="8" pos="53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C8E3"/>
    <a:srgbClr val="C0E499"/>
    <a:srgbClr val="F39700"/>
    <a:srgbClr val="909090"/>
    <a:srgbClr val="454545"/>
    <a:srgbClr val="FF8607"/>
    <a:srgbClr val="282828"/>
    <a:srgbClr val="071F65"/>
    <a:srgbClr val="006C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7" autoAdjust="0"/>
    <p:restoredTop sz="95494" autoAdjust="0"/>
  </p:normalViewPr>
  <p:slideViewPr>
    <p:cSldViewPr snapToGrid="0" snapToObjects="1">
      <p:cViewPr varScale="1">
        <p:scale>
          <a:sx n="90" d="100"/>
          <a:sy n="90" d="100"/>
        </p:scale>
        <p:origin x="678" y="84"/>
      </p:cViewPr>
      <p:guideLst>
        <p:guide orient="horz" pos="2160"/>
        <p:guide pos="3840"/>
        <p:guide orient="horz" pos="1637"/>
        <p:guide orient="horz" pos="680"/>
        <p:guide orient="horz" pos="2927"/>
        <p:guide pos="2881"/>
        <p:guide pos="340"/>
        <p:guide pos="53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18F8A-74B5-9148-A891-627592061A38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768D9-5829-CA4C-800C-5932EF9830F6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D6ACD6-F780-4A47-B5D9-D292A4BD6F8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  <a:endParaRPr kumimoji="1" lang="zh-CN" altLang="en-US" smtClean="0"/>
          </a:p>
          <a:p>
            <a:pPr lvl="1"/>
            <a:r>
              <a:rPr kumimoji="1" lang="zh-CN" altLang="en-US" smtClean="0"/>
              <a:t>二级</a:t>
            </a:r>
            <a:endParaRPr kumimoji="1" lang="zh-CN" altLang="en-US" smtClean="0"/>
          </a:p>
          <a:p>
            <a:pPr lvl="2"/>
            <a:r>
              <a:rPr kumimoji="1" lang="zh-CN" altLang="en-US" smtClean="0"/>
              <a:t>三级</a:t>
            </a:r>
            <a:endParaRPr kumimoji="1" lang="zh-CN" altLang="en-US" smtClean="0"/>
          </a:p>
          <a:p>
            <a:pPr lvl="3"/>
            <a:r>
              <a:rPr kumimoji="1" lang="zh-CN" altLang="en-US" smtClean="0"/>
              <a:t>四级</a:t>
            </a:r>
            <a:endParaRPr kumimoji="1" lang="zh-CN" altLang="en-US" smtClean="0"/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3429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12715C-60D8-4442-95C1-470452B8606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1_空白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136860" y="4786900"/>
            <a:ext cx="820283" cy="276999"/>
          </a:xfrm>
          <a:prstGeom prst="rect">
            <a:avLst/>
          </a:prstGeom>
        </p:spPr>
        <p:txBody>
          <a:bodyPr lIns="68580" tIns="34290" rIns="68580" bIns="34290"/>
          <a:lstStyle/>
          <a:p>
            <a:pPr algn="ctr">
              <a:defRPr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fld id="{2EEF1883-7A0E-4F66-9932-E581691AD397}" type="slidenum">
              <a:rPr lang="zh-CN" altLang="en-US" sz="1200">
                <a:solidFill>
                  <a:schemeClr val="tx1">
                    <a:lumMod val="65000"/>
                    <a:lumOff val="35000"/>
                  </a:schemeClr>
                </a:solidFill>
              </a:rPr>
            </a:fld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0">
    <p:wip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 advClick="0" advTm="0">
    <p:wipe/>
  </p:transition>
  <p:timing>
    <p:tnLst>
      <p:par>
        <p:cTn id="1" dur="indefinite" restart="never" nodeType="tmRoot"/>
      </p:par>
    </p:tnLst>
  </p:timing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i="0" kern="1200" baseline="0">
          <a:solidFill>
            <a:srgbClr val="071F65"/>
          </a:solidFill>
          <a:effectLst/>
          <a:latin typeface="Arial Black" panose="020B0A040201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67970" indent="-267970" algn="just" defTabSz="685800" rtl="0" eaLnBrk="1" latinLnBrk="0" hangingPunct="1">
        <a:lnSpc>
          <a:spcPct val="110000"/>
        </a:lnSpc>
        <a:spcBef>
          <a:spcPts val="1350"/>
        </a:spcBef>
        <a:spcAft>
          <a:spcPts val="0"/>
        </a:spcAft>
        <a:buClr>
          <a:schemeClr val="accent2">
            <a:lumMod val="75000"/>
          </a:schemeClr>
        </a:buClr>
        <a:buSzPct val="70000"/>
        <a:buFont typeface="Wingdings 2" panose="05020102010507070707" pitchFamily="18" charset="2"/>
        <a:buChar char=""/>
        <a:defRPr sz="1500" kern="1200" baseline="0">
          <a:solidFill>
            <a:srgbClr val="071F65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267970" indent="-267970" algn="just" defTabSz="685800" rtl="0" eaLnBrk="1" latinLnBrk="0" hangingPunct="1">
        <a:lnSpc>
          <a:spcPct val="130000"/>
        </a:lnSpc>
        <a:spcBef>
          <a:spcPts val="0"/>
        </a:spcBef>
        <a:spcAft>
          <a:spcPts val="45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200" kern="1200" baseline="0">
          <a:solidFill>
            <a:srgbClr val="071F65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>
            <a:spLocks noChangeArrowheads="1"/>
          </p:cNvSpPr>
          <p:nvPr/>
        </p:nvSpPr>
        <p:spPr bwMode="auto">
          <a:xfrm>
            <a:off x="476188" y="177842"/>
            <a:ext cx="791210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 smtClean="0">
                <a:solidFill>
                  <a:schemeClr val="accent1"/>
                </a:solidFill>
                <a:latin typeface="Arial" panose="020B0604020202020204" pitchFamily="34" charset="0"/>
              </a:rPr>
              <a:t>改进</a:t>
            </a:r>
            <a:endParaRPr lang="zh-CN" altLang="en-US" sz="2400" b="1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28" name="等腰三角形 27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3727365" y="1944487"/>
            <a:ext cx="1787236" cy="1787236"/>
          </a:xfrm>
          <a:prstGeom prst="ellipse">
            <a:avLst/>
          </a:prstGeom>
          <a:noFill/>
          <a:ln w="762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/>
          <p:cNvCxnSpPr/>
          <p:nvPr/>
        </p:nvCxnSpPr>
        <p:spPr>
          <a:xfrm>
            <a:off x="4620983" y="1566351"/>
            <a:ext cx="0" cy="558958"/>
          </a:xfrm>
          <a:prstGeom prst="line">
            <a:avLst/>
          </a:prstGeom>
          <a:ln w="63500">
            <a:solidFill>
              <a:schemeClr val="accent2"/>
            </a:solidFill>
            <a:head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4620983" y="3531998"/>
            <a:ext cx="0" cy="558000"/>
          </a:xfrm>
          <a:prstGeom prst="line">
            <a:avLst/>
          </a:prstGeom>
          <a:ln w="63500">
            <a:solidFill>
              <a:schemeClr val="accent2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直接连接符 25"/>
          <p:cNvCxnSpPr/>
          <p:nvPr/>
        </p:nvCxnSpPr>
        <p:spPr>
          <a:xfrm rot="5400000">
            <a:off x="5620062" y="2559105"/>
            <a:ext cx="0" cy="558000"/>
          </a:xfrm>
          <a:prstGeom prst="line">
            <a:avLst/>
          </a:prstGeom>
          <a:ln w="63500">
            <a:solidFill>
              <a:schemeClr val="accent2"/>
            </a:solidFill>
            <a:head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" name="直接连接符 28"/>
          <p:cNvCxnSpPr/>
          <p:nvPr/>
        </p:nvCxnSpPr>
        <p:spPr>
          <a:xfrm rot="5400000">
            <a:off x="3620424" y="2559105"/>
            <a:ext cx="0" cy="558000"/>
          </a:xfrm>
          <a:prstGeom prst="line">
            <a:avLst/>
          </a:prstGeom>
          <a:ln w="63500">
            <a:solidFill>
              <a:schemeClr val="accent2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" name="TextBox 30"/>
          <p:cNvSpPr txBox="1"/>
          <p:nvPr/>
        </p:nvSpPr>
        <p:spPr>
          <a:xfrm>
            <a:off x="5231308" y="1003920"/>
            <a:ext cx="212597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4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概述性文字观点</a:t>
            </a:r>
            <a:endParaRPr lang="zh-CN" altLang="en-US" sz="1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31308" y="1345303"/>
            <a:ext cx="2946441" cy="5001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ts val="1300"/>
              </a:lnSpc>
            </a:pPr>
            <a:r>
              <a:rPr lang="zh-CN" altLang="en-US" sz="1000" dirty="0" smtClean="0">
                <a:latin typeface="+mn-ea"/>
              </a:rPr>
              <a:t>详写内容</a:t>
            </a:r>
            <a:r>
              <a:rPr lang="en-US" altLang="zh-CN" sz="1000" dirty="0">
                <a:latin typeface="+mn-ea"/>
              </a:rPr>
              <a:t>……</a:t>
            </a:r>
            <a:r>
              <a:rPr lang="zh-CN" altLang="en-US" sz="1000" dirty="0" smtClean="0">
                <a:latin typeface="+mn-ea"/>
              </a:rPr>
              <a:t>点击输入你</a:t>
            </a:r>
            <a:r>
              <a:rPr lang="zh-CN" altLang="en-US" sz="1000" dirty="0">
                <a:latin typeface="+mn-ea"/>
              </a:rPr>
              <a:t>所研究项目的几</a:t>
            </a:r>
            <a:r>
              <a:rPr lang="zh-CN" altLang="en-US" sz="1000" dirty="0" smtClean="0">
                <a:latin typeface="+mn-ea"/>
              </a:rPr>
              <a:t>个具体意义所在，在不改动排版的情况下，尽量控制在四点内说明，标题将每个具体意义概括提出观点。</a:t>
            </a:r>
            <a:endParaRPr lang="en-US" altLang="zh-CN" sz="1000" dirty="0" smtClean="0">
              <a:latin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381638" y="1067906"/>
            <a:ext cx="47868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971070" y="2653440"/>
            <a:ext cx="47868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788323" y="2392131"/>
            <a:ext cx="138942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概述性文字观点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88324" y="2698479"/>
            <a:ext cx="1389426" cy="11669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ts val="1300"/>
              </a:lnSpc>
            </a:pPr>
            <a:r>
              <a:rPr lang="zh-CN" altLang="en-US" sz="1000" dirty="0">
                <a:latin typeface="+mn-ea"/>
              </a:rPr>
              <a:t>详写内容</a:t>
            </a:r>
            <a:r>
              <a:rPr lang="en-US" altLang="zh-CN" sz="1000" dirty="0">
                <a:latin typeface="+mn-ea"/>
              </a:rPr>
              <a:t>……</a:t>
            </a:r>
            <a:r>
              <a:rPr lang="zh-CN" altLang="en-US" sz="1000" dirty="0">
                <a:latin typeface="+mn-ea"/>
              </a:rPr>
              <a:t>点击输入你所研究项目的几个具体意义所在，在不改动排版的情况下，尽量控制在四点内说明，标题将每个具体意义概括提出观点。</a:t>
            </a:r>
            <a:endParaRPr lang="en-US" altLang="zh-CN" sz="1000" dirty="0">
              <a:latin typeface="+mn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81638" y="4173122"/>
            <a:ext cx="47868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835027" y="2653440"/>
            <a:ext cx="47868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5120828" y="1003920"/>
            <a:ext cx="0" cy="84191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>
            <a:stCxn id="33" idx="3"/>
          </p:cNvCxnSpPr>
          <p:nvPr/>
        </p:nvCxnSpPr>
        <p:spPr>
          <a:xfrm>
            <a:off x="4860327" y="1252572"/>
            <a:ext cx="2647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6697288" y="2407509"/>
            <a:ext cx="0" cy="144243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6436786" y="2816115"/>
            <a:ext cx="2647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4075363" y="3894122"/>
            <a:ext cx="0" cy="79743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 flipH="1">
            <a:off x="4075363" y="4357788"/>
            <a:ext cx="2647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583484" y="3862644"/>
            <a:ext cx="138942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zh-CN" altLang="en-US" sz="1400" b="1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概述性文字观点</a:t>
            </a:r>
            <a:endParaRPr lang="zh-CN" altLang="en-US" sz="1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43608" y="4204027"/>
            <a:ext cx="2915448" cy="5001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ts val="1300"/>
              </a:lnSpc>
            </a:pPr>
            <a:r>
              <a:rPr lang="zh-CN" altLang="en-US" sz="1000" dirty="0">
                <a:latin typeface="+mn-ea"/>
              </a:rPr>
              <a:t>详写内容</a:t>
            </a:r>
            <a:r>
              <a:rPr lang="en-US" altLang="zh-CN" sz="1000" dirty="0">
                <a:latin typeface="+mn-ea"/>
              </a:rPr>
              <a:t>……</a:t>
            </a:r>
            <a:r>
              <a:rPr lang="zh-CN" altLang="en-US" sz="1000" dirty="0">
                <a:latin typeface="+mn-ea"/>
              </a:rPr>
              <a:t>点击输入你所研究项目的几个具体意义所在，在不改动排版的情况下，尽量控制在四点内说明，标题将每个具体意义概括提出观点</a:t>
            </a:r>
            <a:r>
              <a:rPr lang="zh-CN" altLang="en-US" sz="1000" dirty="0" smtClean="0">
                <a:latin typeface="+mn-ea"/>
              </a:rPr>
              <a:t>。</a:t>
            </a:r>
            <a:endParaRPr lang="en-US" altLang="zh-CN" sz="1000" dirty="0">
              <a:latin typeface="+mn-ea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2544269" y="1942325"/>
            <a:ext cx="0" cy="150510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H="1">
            <a:off x="2544269" y="2816115"/>
            <a:ext cx="26471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43608" y="1921162"/>
            <a:ext cx="138942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概述性文字观点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43608" y="2293146"/>
            <a:ext cx="1375572" cy="11669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ts val="1300"/>
              </a:lnSpc>
            </a:pPr>
            <a:r>
              <a:rPr lang="zh-CN" altLang="en-US" sz="1000" dirty="0">
                <a:latin typeface="+mn-ea"/>
              </a:rPr>
              <a:t>详写内容</a:t>
            </a:r>
            <a:r>
              <a:rPr lang="en-US" altLang="zh-CN" sz="1000" dirty="0">
                <a:latin typeface="+mn-ea"/>
              </a:rPr>
              <a:t>……</a:t>
            </a:r>
            <a:r>
              <a:rPr lang="zh-CN" altLang="en-US" sz="1000" dirty="0">
                <a:latin typeface="+mn-ea"/>
              </a:rPr>
              <a:t>点击输入你所研究项目的几个具体意义所在，在不改动排版的情况下，尽量控制在四点内说明，标题将每个具体意义概括提出观点。</a:t>
            </a:r>
            <a:endParaRPr lang="en-US" altLang="zh-CN" sz="1000" dirty="0">
              <a:latin typeface="+mn-ea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3797071" y="2014193"/>
            <a:ext cx="1647824" cy="1647824"/>
          </a:xfrm>
          <a:prstGeom prst="ellipse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4021945" y="2299496"/>
            <a:ext cx="1198077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改进之处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39210" y="2540"/>
            <a:ext cx="5304790" cy="1026160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53" presetClass="entr" presetSubtype="5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5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4000"/>
                            </p:stCondLst>
                            <p:childTnLst>
                              <p:par>
                                <p:cTn id="8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500"/>
                            </p:stCondLst>
                            <p:childTnLst>
                              <p:par>
                                <p:cTn id="8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500"/>
                            </p:stCondLst>
                            <p:childTnLst>
                              <p:par>
                                <p:cTn id="9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0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650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17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7500"/>
                            </p:stCondLst>
                            <p:childTnLst>
                              <p:par>
                                <p:cTn id="1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animBg="1"/>
      <p:bldP spid="22" grpId="0" animBg="1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45" grpId="0"/>
      <p:bldP spid="46" grpId="0"/>
      <p:bldP spid="49" grpId="0"/>
      <p:bldP spid="50" grpId="0"/>
      <p:bldP spid="23" grpId="0" animBg="1"/>
      <p:bldP spid="3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652172" y="639434"/>
            <a:ext cx="7838852" cy="3624069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[1][</a:t>
            </a:r>
            <a:r>
              <a:rPr lang="zh-CN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瑞士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</a:t>
            </a:r>
            <a:r>
              <a:rPr lang="en-US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 </a:t>
            </a:r>
            <a:r>
              <a:rPr lang="zh-CN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亚历山大·奥斯特瓦德（</a:t>
            </a:r>
            <a:r>
              <a:rPr lang="en-US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AlexanderOsterwalder</a:t>
            </a:r>
            <a:r>
              <a:rPr lang="zh-CN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zh-CN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，（比利时）伊夫·皮尼厄（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YvesPigneur</a:t>
            </a:r>
            <a:r>
              <a:rPr lang="zh-CN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 </a:t>
            </a:r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</a:t>
            </a:r>
            <a:r>
              <a:rPr lang="en-US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Business Model Generation</a:t>
            </a:r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[M]</a:t>
            </a:r>
            <a:r>
              <a:rPr lang="zh-CN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出版社：机械工业出版社，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2011</a:t>
            </a:r>
            <a:endParaRPr lang="zh-CN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[2]</a:t>
            </a:r>
            <a:r>
              <a:rPr lang="en-US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C. K. Prahalad</a:t>
            </a:r>
            <a:r>
              <a:rPr lang="zh-CN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</a:t>
            </a:r>
            <a:r>
              <a:rPr lang="zh-CN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·</a:t>
            </a:r>
            <a:r>
              <a:rPr lang="en-US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lang="zh-CN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·普拉哈拉德），</a:t>
            </a:r>
            <a:r>
              <a:rPr lang="en-US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Venkat Ramaswamy</a:t>
            </a:r>
            <a:r>
              <a:rPr lang="zh-CN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（文卡特·拉马斯瓦米） </a:t>
            </a:r>
            <a:r>
              <a:rPr lang="en-US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</a:t>
            </a:r>
            <a:r>
              <a:rPr lang="en-US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The Future of Competition: Co-Creating Unique Value With Customers</a:t>
            </a:r>
            <a:r>
              <a:rPr lang="zh-CN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[M]</a:t>
            </a:r>
            <a:r>
              <a:rPr lang="zh-CN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出版社：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Harvard Business Press </a:t>
            </a:r>
            <a:r>
              <a:rPr lang="zh-CN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2003</a:t>
            </a:r>
            <a:endParaRPr lang="zh-CN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[3]</a:t>
            </a:r>
            <a:r>
              <a:rPr lang="zh-CN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胡世良</a:t>
            </a:r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《移动互联网商业模式创新与变革》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[M]</a:t>
            </a:r>
            <a:r>
              <a:rPr lang="zh-CN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出版社：人民邮电出版社，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2013</a:t>
            </a:r>
            <a:endParaRPr lang="zh-CN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[4]</a:t>
            </a:r>
            <a:r>
              <a:rPr lang="zh-CN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陈洪等 </a:t>
            </a:r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《游戏运营管理》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[M]</a:t>
            </a:r>
            <a:r>
              <a:rPr lang="zh-CN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出版社：清华大学出版社，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2009</a:t>
            </a:r>
            <a:endParaRPr lang="zh-CN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[5]</a:t>
            </a:r>
            <a:r>
              <a:rPr lang="zh-CN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许可，张春鹏</a:t>
            </a:r>
            <a:r>
              <a:rPr lang="zh-CN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《移动运营商手机游戏业务的战略定位和发展策略探讨》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[J]</a:t>
            </a:r>
            <a:r>
              <a:rPr lang="zh-CN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世界电信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2004</a:t>
            </a:r>
            <a:r>
              <a:rPr lang="zh-CN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年第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期，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2004</a:t>
            </a:r>
            <a:endParaRPr lang="zh-CN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[6]</a:t>
            </a:r>
            <a:r>
              <a:rPr lang="zh-CN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网络评论</a:t>
            </a:r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《深入解读国产手机游戏盈利模式和市场前景》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OL]</a:t>
            </a:r>
            <a:r>
              <a:rPr lang="zh-CN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2013</a:t>
            </a:r>
            <a:endParaRPr lang="zh-CN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[7]</a:t>
            </a:r>
            <a:r>
              <a:rPr lang="zh-CN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中国互联网络信息中心（</a:t>
            </a:r>
            <a:r>
              <a:rPr lang="en-US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CNNIC</a:t>
            </a:r>
            <a:r>
              <a:rPr lang="zh-CN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《第</a:t>
            </a:r>
            <a:r>
              <a:rPr lang="en-US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32</a:t>
            </a:r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次中国互联网络发展统计报告》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[R]</a:t>
            </a:r>
            <a:r>
              <a:rPr lang="zh-CN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2013</a:t>
            </a:r>
            <a:endParaRPr lang="zh-CN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[8]</a:t>
            </a:r>
            <a:r>
              <a:rPr lang="zh-CN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中国互联网络信息中心（</a:t>
            </a:r>
            <a:r>
              <a:rPr lang="en-US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CNNIC</a:t>
            </a:r>
            <a:r>
              <a:rPr lang="zh-CN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《第</a:t>
            </a:r>
            <a:r>
              <a:rPr lang="en-US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33 </a:t>
            </a:r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次中国互联网络发展状况统计报告》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[R]</a:t>
            </a:r>
            <a:r>
              <a:rPr lang="zh-CN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2014</a:t>
            </a:r>
            <a:endParaRPr lang="zh-CN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[9]</a:t>
            </a:r>
            <a:r>
              <a:rPr lang="zh-CN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百度移动</a:t>
            </a:r>
            <a:r>
              <a:rPr lang="zh-CN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《移动互联网发展趋势报告》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[R]</a:t>
            </a:r>
            <a:r>
              <a:rPr lang="zh-CN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2012</a:t>
            </a:r>
            <a:endParaRPr lang="zh-CN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[10]</a:t>
            </a:r>
            <a:r>
              <a:rPr lang="zh-CN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艾媒咨询 </a:t>
            </a:r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《中国手机游戏市场年度报告》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[R]</a:t>
            </a:r>
            <a:r>
              <a:rPr lang="zh-CN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2013</a:t>
            </a:r>
            <a:endParaRPr lang="zh-CN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[11]</a:t>
            </a:r>
            <a:r>
              <a:rPr lang="zh-CN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李振勇 </a:t>
            </a:r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《商业模式创新与战略转型》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[M] </a:t>
            </a:r>
            <a:r>
              <a:rPr lang="zh-CN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出版社：国家行政学院音像出版社，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2009</a:t>
            </a:r>
            <a:endParaRPr lang="zh-CN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[12]</a:t>
            </a:r>
            <a:r>
              <a:rPr lang="zh-CN" altLang="zh-CN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付玉辉 </a:t>
            </a:r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《</a:t>
            </a:r>
            <a:r>
              <a:rPr lang="en-US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4G</a:t>
            </a:r>
            <a:r>
              <a:rPr lang="zh-CN" altLang="zh-CN" sz="1100" dirty="0">
                <a:solidFill>
                  <a:schemeClr val="accent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时代的手机游戏裂变》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[J].</a:t>
            </a:r>
            <a:r>
              <a:rPr lang="zh-CN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广告大观综合版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2014-1</a:t>
            </a:r>
            <a:r>
              <a:rPr lang="zh-CN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2014</a:t>
            </a:r>
            <a:endParaRPr lang="zh-CN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476250" y="177800"/>
            <a:ext cx="4281170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>
                <a:solidFill>
                  <a:schemeClr val="accent1"/>
                </a:solidFill>
              </a:rPr>
              <a:t>附录：参考</a:t>
            </a:r>
            <a:r>
              <a:rPr lang="zh-CN" altLang="en-US" sz="2400" b="1" dirty="0" smtClean="0">
                <a:solidFill>
                  <a:schemeClr val="accent1"/>
                </a:solidFill>
              </a:rPr>
              <a:t>文献</a:t>
            </a:r>
            <a:r>
              <a:rPr lang="en-US" altLang="zh-CN" sz="2400" b="1" dirty="0" smtClean="0">
                <a:solidFill>
                  <a:schemeClr val="accent1"/>
                </a:solidFill>
              </a:rPr>
              <a:t>  </a:t>
            </a:r>
            <a:r>
              <a:rPr lang="zh-CN" altLang="en-US" sz="2400" b="1" dirty="0" smtClean="0">
                <a:solidFill>
                  <a:schemeClr val="accent1"/>
                </a:solidFill>
                <a:highlight>
                  <a:srgbClr val="FFFF00"/>
                </a:highlight>
              </a:rPr>
              <a:t>（也省略）</a:t>
            </a:r>
            <a:endParaRPr lang="zh-CN" altLang="en-US" sz="2400" b="1" dirty="0" smtClean="0">
              <a:solidFill>
                <a:schemeClr val="accent1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sp>
        <p:nvSpPr>
          <p:cNvPr id="15" name="等腰三角形 14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pic>
        <p:nvPicPr>
          <p:cNvPr id="4" name="图片 3" descr="开心写论文 --小标-浅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1420" y="0"/>
            <a:ext cx="1592580" cy="408940"/>
          </a:xfrm>
          <a:prstGeom prst="rect">
            <a:avLst/>
          </a:prstGeom>
        </p:spPr>
      </p:pic>
    </p:spTree>
  </p:cSld>
  <p:clrMapOvr>
    <a:masterClrMapping/>
  </p:clrMapOvr>
  <p:transition spd="slow" advClick="0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5"/>
          <p:cNvSpPr txBox="1"/>
          <p:nvPr/>
        </p:nvSpPr>
        <p:spPr>
          <a:xfrm>
            <a:off x="4136861" y="3501938"/>
            <a:ext cx="1043940" cy="283845"/>
          </a:xfrm>
          <a:prstGeom prst="rect">
            <a:avLst/>
          </a:prstGeom>
          <a:noFill/>
        </p:spPr>
        <p:txBody>
          <a:bodyPr wrap="none" lIns="68580" tIns="34290" rIns="68580" bIns="34290" rtlCol="0">
            <a:spAutoFit/>
          </a:bodyPr>
          <a:lstStyle/>
          <a:p>
            <a:r>
              <a:rPr lang="zh-CN" altLang="en-US" b="1" dirty="0" smtClean="0">
                <a:solidFill>
                  <a:srgbClr val="071F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专业：</a:t>
            </a:r>
            <a:r>
              <a:rPr lang="en-US" altLang="zh-CN" b="1" dirty="0" smtClean="0">
                <a:solidFill>
                  <a:srgbClr val="071F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XXX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542581" y="3501938"/>
            <a:ext cx="1231747" cy="284693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r>
              <a:rPr kumimoji="1" lang="zh-CN" altLang="en-US" b="1" dirty="0">
                <a:solidFill>
                  <a:srgbClr val="071F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答辩</a:t>
            </a:r>
            <a:r>
              <a:rPr kumimoji="1" lang="zh-CN" altLang="en-US" b="1" dirty="0" smtClean="0">
                <a:solidFill>
                  <a:srgbClr val="071F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</a:t>
            </a:r>
            <a:r>
              <a:rPr kumimoji="1" lang="zh-CN" altLang="en-US" b="1" dirty="0" smtClean="0">
                <a:solidFill>
                  <a:srgbClr val="071F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kumimoji="1" lang="en-US" altLang="zh-CN" b="1" dirty="0" smtClean="0">
                <a:solidFill>
                  <a:srgbClr val="071F6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XXX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2448831" y="2068827"/>
            <a:ext cx="5839485" cy="683895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r>
              <a:rPr lang="zh-CN" altLang="en-US" sz="4000" b="1" dirty="0" smtClean="0">
                <a:solidFill>
                  <a:srgbClr val="071F65"/>
                </a:solidFill>
                <a:latin typeface="+mj-ea"/>
                <a:ea typeface="+mj-ea"/>
              </a:rPr>
              <a:t>请评委老师批评指正</a:t>
            </a:r>
            <a:endParaRPr lang="zh-CN" altLang="en-US" sz="4000" b="1" dirty="0">
              <a:solidFill>
                <a:srgbClr val="071F65"/>
              </a:solidFill>
              <a:latin typeface="+mj-ea"/>
              <a:ea typeface="+mj-ea"/>
            </a:endParaRPr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2542581" y="2900164"/>
            <a:ext cx="50318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 5"/>
          <p:cNvSpPr>
            <a:spLocks noEditPoints="1"/>
          </p:cNvSpPr>
          <p:nvPr/>
        </p:nvSpPr>
        <p:spPr bwMode="auto">
          <a:xfrm>
            <a:off x="0" y="1164127"/>
            <a:ext cx="1790977" cy="2869814"/>
          </a:xfrm>
          <a:custGeom>
            <a:avLst/>
            <a:gdLst>
              <a:gd name="T0" fmla="*/ 0 w 7449"/>
              <a:gd name="T1" fmla="*/ 0 h 11906"/>
              <a:gd name="T2" fmla="*/ 7449 w 7449"/>
              <a:gd name="T3" fmla="*/ 4223 h 11906"/>
              <a:gd name="T4" fmla="*/ 0 w 7449"/>
              <a:gd name="T5" fmla="*/ 4223 h 11906"/>
              <a:gd name="T6" fmla="*/ 0 w 7449"/>
              <a:gd name="T7" fmla="*/ 0 h 11906"/>
              <a:gd name="T8" fmla="*/ 7449 w 7449"/>
              <a:gd name="T9" fmla="*/ 4302 h 11906"/>
              <a:gd name="T10" fmla="*/ 0 w 7449"/>
              <a:gd name="T11" fmla="*/ 8525 h 11906"/>
              <a:gd name="T12" fmla="*/ 0 w 7449"/>
              <a:gd name="T13" fmla="*/ 4302 h 11906"/>
              <a:gd name="T14" fmla="*/ 7449 w 7449"/>
              <a:gd name="T15" fmla="*/ 4302 h 11906"/>
              <a:gd name="T16" fmla="*/ 2857 w 7449"/>
              <a:gd name="T17" fmla="*/ 10038 h 11906"/>
              <a:gd name="T18" fmla="*/ 5 w 7449"/>
              <a:gd name="T19" fmla="*/ 11903 h 11906"/>
              <a:gd name="T20" fmla="*/ 0 w 7449"/>
              <a:gd name="T21" fmla="*/ 11906 h 11906"/>
              <a:gd name="T22" fmla="*/ 0 w 7449"/>
              <a:gd name="T23" fmla="*/ 8789 h 11906"/>
              <a:gd name="T24" fmla="*/ 2857 w 7449"/>
              <a:gd name="T25" fmla="*/ 7136 h 11906"/>
              <a:gd name="T26" fmla="*/ 2857 w 7449"/>
              <a:gd name="T27" fmla="*/ 10038 h 119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7449" h="11906">
                <a:moveTo>
                  <a:pt x="0" y="0"/>
                </a:moveTo>
                <a:lnTo>
                  <a:pt x="7449" y="4223"/>
                </a:lnTo>
                <a:lnTo>
                  <a:pt x="0" y="4223"/>
                </a:lnTo>
                <a:lnTo>
                  <a:pt x="0" y="0"/>
                </a:lnTo>
                <a:close/>
                <a:moveTo>
                  <a:pt x="7449" y="4302"/>
                </a:moveTo>
                <a:lnTo>
                  <a:pt x="0" y="8525"/>
                </a:lnTo>
                <a:lnTo>
                  <a:pt x="0" y="4302"/>
                </a:lnTo>
                <a:lnTo>
                  <a:pt x="7449" y="4302"/>
                </a:lnTo>
                <a:close/>
                <a:moveTo>
                  <a:pt x="2857" y="10038"/>
                </a:moveTo>
                <a:cubicBezTo>
                  <a:pt x="2537" y="11326"/>
                  <a:pt x="721" y="11825"/>
                  <a:pt x="5" y="11903"/>
                </a:cubicBezTo>
                <a:lnTo>
                  <a:pt x="0" y="11906"/>
                </a:lnTo>
                <a:lnTo>
                  <a:pt x="0" y="8789"/>
                </a:lnTo>
                <a:lnTo>
                  <a:pt x="2857" y="7136"/>
                </a:lnTo>
                <a:lnTo>
                  <a:pt x="2857" y="10038"/>
                </a:lnTo>
                <a:close/>
              </a:path>
            </a:pathLst>
          </a:custGeom>
          <a:solidFill>
            <a:schemeClr val="accent1"/>
          </a:solidFill>
          <a:ln w="5" cap="flat">
            <a:solidFill>
              <a:srgbClr val="24211D"/>
            </a:solidFill>
            <a:prstDash val="solid"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32" name="Freeform 6"/>
          <p:cNvSpPr>
            <a:spLocks noEditPoints="1"/>
          </p:cNvSpPr>
          <p:nvPr/>
        </p:nvSpPr>
        <p:spPr bwMode="auto">
          <a:xfrm>
            <a:off x="1722420" y="2203161"/>
            <a:ext cx="137114" cy="1694253"/>
          </a:xfrm>
          <a:custGeom>
            <a:avLst/>
            <a:gdLst>
              <a:gd name="T0" fmla="*/ 246 w 571"/>
              <a:gd name="T1" fmla="*/ 0 h 7028"/>
              <a:gd name="T2" fmla="*/ 246 w 571"/>
              <a:gd name="T3" fmla="*/ 2716 h 7028"/>
              <a:gd name="T4" fmla="*/ 178 w 571"/>
              <a:gd name="T5" fmla="*/ 2816 h 7028"/>
              <a:gd name="T6" fmla="*/ 286 w 571"/>
              <a:gd name="T7" fmla="*/ 2924 h 7028"/>
              <a:gd name="T8" fmla="*/ 394 w 571"/>
              <a:gd name="T9" fmla="*/ 2816 h 7028"/>
              <a:gd name="T10" fmla="*/ 325 w 571"/>
              <a:gd name="T11" fmla="*/ 2716 h 7028"/>
              <a:gd name="T12" fmla="*/ 325 w 571"/>
              <a:gd name="T13" fmla="*/ 0 h 7028"/>
              <a:gd name="T14" fmla="*/ 246 w 571"/>
              <a:gd name="T15" fmla="*/ 0 h 7028"/>
              <a:gd name="T16" fmla="*/ 0 w 571"/>
              <a:gd name="T17" fmla="*/ 3749 h 7028"/>
              <a:gd name="T18" fmla="*/ 571 w 571"/>
              <a:gd name="T19" fmla="*/ 3749 h 7028"/>
              <a:gd name="T20" fmla="*/ 571 w 571"/>
              <a:gd name="T21" fmla="*/ 3790 h 7028"/>
              <a:gd name="T22" fmla="*/ 0 w 571"/>
              <a:gd name="T23" fmla="*/ 3790 h 7028"/>
              <a:gd name="T24" fmla="*/ 0 w 571"/>
              <a:gd name="T25" fmla="*/ 3749 h 7028"/>
              <a:gd name="T26" fmla="*/ 0 w 571"/>
              <a:gd name="T27" fmla="*/ 3323 h 7028"/>
              <a:gd name="T28" fmla="*/ 0 w 571"/>
              <a:gd name="T29" fmla="*/ 3323 h 7028"/>
              <a:gd name="T30" fmla="*/ 0 w 571"/>
              <a:gd name="T31" fmla="*/ 3323 h 7028"/>
              <a:gd name="T32" fmla="*/ 286 w 571"/>
              <a:gd name="T33" fmla="*/ 3037 h 7028"/>
              <a:gd name="T34" fmla="*/ 571 w 571"/>
              <a:gd name="T35" fmla="*/ 3323 h 7028"/>
              <a:gd name="T36" fmla="*/ 571 w 571"/>
              <a:gd name="T37" fmla="*/ 3323 h 7028"/>
              <a:gd name="T38" fmla="*/ 571 w 571"/>
              <a:gd name="T39" fmla="*/ 3323 h 7028"/>
              <a:gd name="T40" fmla="*/ 571 w 571"/>
              <a:gd name="T41" fmla="*/ 3683 h 7028"/>
              <a:gd name="T42" fmla="*/ 0 w 571"/>
              <a:gd name="T43" fmla="*/ 3683 h 7028"/>
              <a:gd name="T44" fmla="*/ 0 w 571"/>
              <a:gd name="T45" fmla="*/ 3323 h 7028"/>
              <a:gd name="T46" fmla="*/ 37 w 571"/>
              <a:gd name="T47" fmla="*/ 3885 h 7028"/>
              <a:gd name="T48" fmla="*/ 0 w 571"/>
              <a:gd name="T49" fmla="*/ 3885 h 7028"/>
              <a:gd name="T50" fmla="*/ 0 w 571"/>
              <a:gd name="T51" fmla="*/ 7028 h 7028"/>
              <a:gd name="T52" fmla="*/ 37 w 571"/>
              <a:gd name="T53" fmla="*/ 7028 h 7028"/>
              <a:gd name="T54" fmla="*/ 37 w 571"/>
              <a:gd name="T55" fmla="*/ 3885 h 7028"/>
              <a:gd name="T56" fmla="*/ 126 w 571"/>
              <a:gd name="T57" fmla="*/ 3885 h 7028"/>
              <a:gd name="T58" fmla="*/ 89 w 571"/>
              <a:gd name="T59" fmla="*/ 3885 h 7028"/>
              <a:gd name="T60" fmla="*/ 89 w 571"/>
              <a:gd name="T61" fmla="*/ 7028 h 7028"/>
              <a:gd name="T62" fmla="*/ 126 w 571"/>
              <a:gd name="T63" fmla="*/ 7028 h 7028"/>
              <a:gd name="T64" fmla="*/ 126 w 571"/>
              <a:gd name="T65" fmla="*/ 3885 h 7028"/>
              <a:gd name="T66" fmla="*/ 215 w 571"/>
              <a:gd name="T67" fmla="*/ 3885 h 7028"/>
              <a:gd name="T68" fmla="*/ 178 w 571"/>
              <a:gd name="T69" fmla="*/ 3885 h 7028"/>
              <a:gd name="T70" fmla="*/ 178 w 571"/>
              <a:gd name="T71" fmla="*/ 7028 h 7028"/>
              <a:gd name="T72" fmla="*/ 215 w 571"/>
              <a:gd name="T73" fmla="*/ 7028 h 7028"/>
              <a:gd name="T74" fmla="*/ 215 w 571"/>
              <a:gd name="T75" fmla="*/ 3885 h 7028"/>
              <a:gd name="T76" fmla="*/ 304 w 571"/>
              <a:gd name="T77" fmla="*/ 3885 h 7028"/>
              <a:gd name="T78" fmla="*/ 267 w 571"/>
              <a:gd name="T79" fmla="*/ 3885 h 7028"/>
              <a:gd name="T80" fmla="*/ 267 w 571"/>
              <a:gd name="T81" fmla="*/ 7028 h 7028"/>
              <a:gd name="T82" fmla="*/ 304 w 571"/>
              <a:gd name="T83" fmla="*/ 7028 h 7028"/>
              <a:gd name="T84" fmla="*/ 304 w 571"/>
              <a:gd name="T85" fmla="*/ 3885 h 7028"/>
              <a:gd name="T86" fmla="*/ 393 w 571"/>
              <a:gd name="T87" fmla="*/ 3885 h 7028"/>
              <a:gd name="T88" fmla="*/ 356 w 571"/>
              <a:gd name="T89" fmla="*/ 3885 h 7028"/>
              <a:gd name="T90" fmla="*/ 356 w 571"/>
              <a:gd name="T91" fmla="*/ 7028 h 7028"/>
              <a:gd name="T92" fmla="*/ 393 w 571"/>
              <a:gd name="T93" fmla="*/ 7028 h 7028"/>
              <a:gd name="T94" fmla="*/ 393 w 571"/>
              <a:gd name="T95" fmla="*/ 3885 h 7028"/>
              <a:gd name="T96" fmla="*/ 482 w 571"/>
              <a:gd name="T97" fmla="*/ 3885 h 7028"/>
              <a:gd name="T98" fmla="*/ 445 w 571"/>
              <a:gd name="T99" fmla="*/ 3885 h 7028"/>
              <a:gd name="T100" fmla="*/ 445 w 571"/>
              <a:gd name="T101" fmla="*/ 7028 h 7028"/>
              <a:gd name="T102" fmla="*/ 482 w 571"/>
              <a:gd name="T103" fmla="*/ 7028 h 7028"/>
              <a:gd name="T104" fmla="*/ 482 w 571"/>
              <a:gd name="T105" fmla="*/ 3885 h 7028"/>
              <a:gd name="T106" fmla="*/ 571 w 571"/>
              <a:gd name="T107" fmla="*/ 3885 h 7028"/>
              <a:gd name="T108" fmla="*/ 534 w 571"/>
              <a:gd name="T109" fmla="*/ 3885 h 7028"/>
              <a:gd name="T110" fmla="*/ 534 w 571"/>
              <a:gd name="T111" fmla="*/ 7028 h 7028"/>
              <a:gd name="T112" fmla="*/ 571 w 571"/>
              <a:gd name="T113" fmla="*/ 7028 h 7028"/>
              <a:gd name="T114" fmla="*/ 571 w 571"/>
              <a:gd name="T115" fmla="*/ 3885 h 70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571" h="7028">
                <a:moveTo>
                  <a:pt x="246" y="0"/>
                </a:moveTo>
                <a:lnTo>
                  <a:pt x="246" y="2716"/>
                </a:lnTo>
                <a:cubicBezTo>
                  <a:pt x="206" y="2731"/>
                  <a:pt x="178" y="2770"/>
                  <a:pt x="178" y="2816"/>
                </a:cubicBezTo>
                <a:cubicBezTo>
                  <a:pt x="178" y="2876"/>
                  <a:pt x="226" y="2924"/>
                  <a:pt x="286" y="2924"/>
                </a:cubicBezTo>
                <a:cubicBezTo>
                  <a:pt x="345" y="2924"/>
                  <a:pt x="394" y="2876"/>
                  <a:pt x="394" y="2816"/>
                </a:cubicBezTo>
                <a:cubicBezTo>
                  <a:pt x="394" y="2770"/>
                  <a:pt x="365" y="2731"/>
                  <a:pt x="325" y="2716"/>
                </a:cubicBezTo>
                <a:lnTo>
                  <a:pt x="325" y="0"/>
                </a:lnTo>
                <a:lnTo>
                  <a:pt x="246" y="0"/>
                </a:lnTo>
                <a:close/>
                <a:moveTo>
                  <a:pt x="0" y="3749"/>
                </a:moveTo>
                <a:lnTo>
                  <a:pt x="571" y="3749"/>
                </a:lnTo>
                <a:lnTo>
                  <a:pt x="571" y="3790"/>
                </a:lnTo>
                <a:lnTo>
                  <a:pt x="0" y="3790"/>
                </a:lnTo>
                <a:lnTo>
                  <a:pt x="0" y="3749"/>
                </a:lnTo>
                <a:close/>
                <a:moveTo>
                  <a:pt x="0" y="3323"/>
                </a:moveTo>
                <a:lnTo>
                  <a:pt x="0" y="3323"/>
                </a:lnTo>
                <a:lnTo>
                  <a:pt x="0" y="3323"/>
                </a:lnTo>
                <a:cubicBezTo>
                  <a:pt x="0" y="3165"/>
                  <a:pt x="128" y="3037"/>
                  <a:pt x="286" y="3037"/>
                </a:cubicBezTo>
                <a:cubicBezTo>
                  <a:pt x="443" y="3037"/>
                  <a:pt x="571" y="3165"/>
                  <a:pt x="571" y="3323"/>
                </a:cubicBezTo>
                <a:lnTo>
                  <a:pt x="571" y="3323"/>
                </a:lnTo>
                <a:lnTo>
                  <a:pt x="571" y="3323"/>
                </a:lnTo>
                <a:lnTo>
                  <a:pt x="571" y="3683"/>
                </a:lnTo>
                <a:lnTo>
                  <a:pt x="0" y="3683"/>
                </a:lnTo>
                <a:lnTo>
                  <a:pt x="0" y="3323"/>
                </a:lnTo>
                <a:close/>
                <a:moveTo>
                  <a:pt x="37" y="3885"/>
                </a:moveTo>
                <a:lnTo>
                  <a:pt x="0" y="3885"/>
                </a:lnTo>
                <a:lnTo>
                  <a:pt x="0" y="7028"/>
                </a:lnTo>
                <a:lnTo>
                  <a:pt x="37" y="7028"/>
                </a:lnTo>
                <a:lnTo>
                  <a:pt x="37" y="3885"/>
                </a:lnTo>
                <a:close/>
                <a:moveTo>
                  <a:pt x="126" y="3885"/>
                </a:moveTo>
                <a:lnTo>
                  <a:pt x="89" y="3885"/>
                </a:lnTo>
                <a:lnTo>
                  <a:pt x="89" y="7028"/>
                </a:lnTo>
                <a:lnTo>
                  <a:pt x="126" y="7028"/>
                </a:lnTo>
                <a:lnTo>
                  <a:pt x="126" y="3885"/>
                </a:lnTo>
                <a:close/>
                <a:moveTo>
                  <a:pt x="215" y="3885"/>
                </a:moveTo>
                <a:lnTo>
                  <a:pt x="178" y="3885"/>
                </a:lnTo>
                <a:lnTo>
                  <a:pt x="178" y="7028"/>
                </a:lnTo>
                <a:lnTo>
                  <a:pt x="215" y="7028"/>
                </a:lnTo>
                <a:lnTo>
                  <a:pt x="215" y="3885"/>
                </a:lnTo>
                <a:close/>
                <a:moveTo>
                  <a:pt x="304" y="3885"/>
                </a:moveTo>
                <a:lnTo>
                  <a:pt x="267" y="3885"/>
                </a:lnTo>
                <a:lnTo>
                  <a:pt x="267" y="7028"/>
                </a:lnTo>
                <a:lnTo>
                  <a:pt x="304" y="7028"/>
                </a:lnTo>
                <a:lnTo>
                  <a:pt x="304" y="3885"/>
                </a:lnTo>
                <a:close/>
                <a:moveTo>
                  <a:pt x="393" y="3885"/>
                </a:moveTo>
                <a:lnTo>
                  <a:pt x="356" y="3885"/>
                </a:lnTo>
                <a:lnTo>
                  <a:pt x="356" y="7028"/>
                </a:lnTo>
                <a:lnTo>
                  <a:pt x="393" y="7028"/>
                </a:lnTo>
                <a:lnTo>
                  <a:pt x="393" y="3885"/>
                </a:lnTo>
                <a:close/>
                <a:moveTo>
                  <a:pt x="482" y="3885"/>
                </a:moveTo>
                <a:lnTo>
                  <a:pt x="445" y="3885"/>
                </a:lnTo>
                <a:lnTo>
                  <a:pt x="445" y="7028"/>
                </a:lnTo>
                <a:lnTo>
                  <a:pt x="482" y="7028"/>
                </a:lnTo>
                <a:lnTo>
                  <a:pt x="482" y="3885"/>
                </a:lnTo>
                <a:close/>
                <a:moveTo>
                  <a:pt x="571" y="3885"/>
                </a:moveTo>
                <a:lnTo>
                  <a:pt x="534" y="3885"/>
                </a:lnTo>
                <a:lnTo>
                  <a:pt x="534" y="7028"/>
                </a:lnTo>
                <a:lnTo>
                  <a:pt x="571" y="7028"/>
                </a:lnTo>
                <a:lnTo>
                  <a:pt x="571" y="38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0275" y="412750"/>
            <a:ext cx="6943725" cy="800100"/>
          </a:xfrm>
          <a:prstGeom prst="rect">
            <a:avLst/>
          </a:prstGeom>
        </p:spPr>
      </p:pic>
      <p:pic>
        <p:nvPicPr>
          <p:cNvPr id="4" name="图片 3" descr="开心写论文 --小标-浅色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420" y="0"/>
            <a:ext cx="1592580" cy="4089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0">
        <p:blinds dir="vert"/>
      </p:transition>
    </mc:Choice>
    <mc:Fallback>
      <p:transition spd="slow" advClick="0" advTm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6" grpId="0"/>
      <p:bldP spid="27" grpId="0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476188" y="177842"/>
            <a:ext cx="2315210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 smtClean="0">
                <a:solidFill>
                  <a:schemeClr val="accent1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评委常问问题：</a:t>
            </a:r>
            <a:endParaRPr lang="zh-CN" altLang="en-US" sz="2400" b="1" dirty="0" smtClean="0">
              <a:solidFill>
                <a:schemeClr val="accent1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sp>
        <p:nvSpPr>
          <p:cNvPr id="20" name="等腰三角形 19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15670" y="698500"/>
            <a:ext cx="6697980" cy="3761740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论文的创新性体现在什么地方？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论文的数据来源？如何获取的？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论文为什么选这个题目？理论支撑是什么？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论文的研究方法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目的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意义是什么？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5.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你对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**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理论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公式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概念的理解？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6.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你在论文撰写过程遇到的困难？怎么解决的？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7.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你论文的问卷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访谈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调查的设计思路是什么？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8.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你论文中你主要的工作是哪里？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" name="图片 3" descr="开心写论文 --小标-浅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3735" y="0"/>
            <a:ext cx="2120265" cy="49212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7023735" y="492125"/>
            <a:ext cx="2120265" cy="2327910"/>
          </a:xfrm>
          <a:prstGeom prst="rect">
            <a:avLst/>
          </a:prstGeom>
          <a:gradFill>
            <a:gsLst>
              <a:gs pos="100000">
                <a:srgbClr val="E06A6D"/>
              </a:gs>
              <a:gs pos="0">
                <a:srgbClr val="FDB0BA"/>
              </a:gs>
            </a:gsLst>
            <a:lin scaled="1"/>
          </a:gradFill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注意！！！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你必须要回答的问题！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不能现在就疯狂道歉！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老师如果一次问了多个问题，尽量用笔记一下，按照条理和逻辑</a:t>
            </a:r>
            <a:r>
              <a:rPr lang="zh-CN" altLang="en-US" dirty="0" smtClean="0"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逐个回答！</a:t>
            </a:r>
            <a:endParaRPr lang="zh-CN" altLang="en-US" sz="14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05320" y="2820035"/>
            <a:ext cx="2138680" cy="37084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只答不辩！别急着道歉！</a:t>
            </a:r>
            <a:endParaRPr lang="zh-CN" altLang="en-US" sz="1400" b="1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ldLvl="0" animBg="1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>
            <a:spLocks noChangeArrowheads="1"/>
          </p:cNvSpPr>
          <p:nvPr/>
        </p:nvSpPr>
        <p:spPr bwMode="auto">
          <a:xfrm>
            <a:off x="476188" y="177842"/>
            <a:ext cx="1705610" cy="459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8" tIns="45719" rIns="91438" bIns="45719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400" b="1" dirty="0" smtClean="0">
                <a:solidFill>
                  <a:schemeClr val="accent1"/>
                </a:solidFill>
                <a:highlight>
                  <a:srgbClr val="FFFF00"/>
                </a:highlight>
                <a:latin typeface="Arial" panose="020B0604020202020204" pitchFamily="34" charset="0"/>
              </a:rPr>
              <a:t>答辩技巧：</a:t>
            </a:r>
            <a:endParaRPr lang="zh-CN" altLang="en-US" sz="2400" b="1" dirty="0" smtClean="0">
              <a:solidFill>
                <a:schemeClr val="accent1"/>
              </a:solidFill>
              <a:highlight>
                <a:srgbClr val="FFFF00"/>
              </a:highlight>
              <a:latin typeface="Arial" panose="020B0604020202020204" pitchFamily="34" charset="0"/>
            </a:endParaRPr>
          </a:p>
        </p:txBody>
      </p:sp>
      <p:sp>
        <p:nvSpPr>
          <p:cNvPr id="20" name="等腰三角形 19"/>
          <p:cNvSpPr>
            <a:spLocks noChangeArrowheads="1"/>
          </p:cNvSpPr>
          <p:nvPr/>
        </p:nvSpPr>
        <p:spPr bwMode="auto">
          <a:xfrm rot="5400000">
            <a:off x="-39787" y="157290"/>
            <a:ext cx="581159" cy="501585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lIns="91438" tIns="45719" rIns="91438" bIns="45719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sym typeface="微软雅黑" panose="020B0503020204020204" pitchFamily="34" charset="-122"/>
            </a:endParaRPr>
          </a:p>
        </p:txBody>
      </p:sp>
      <p:pic>
        <p:nvPicPr>
          <p:cNvPr id="4" name="图片 3" descr="开心写论文 --小标-浅色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2965" y="0"/>
            <a:ext cx="1931035" cy="495935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090930" y="1096645"/>
            <a:ext cx="5322570" cy="1176020"/>
          </a:xfrm>
          <a:prstGeom prst="rect">
            <a:avLst/>
          </a:prstGeom>
          <a:solidFill>
            <a:srgbClr val="E6C8E3"/>
          </a:solidFill>
        </p:spPr>
        <p:txBody>
          <a:bodyPr wrap="square" lIns="68580" tIns="34290" rIns="68580" bIns="34290">
            <a:spAutoFit/>
          </a:bodyPr>
          <a:p>
            <a:pPr>
              <a:lnSpc>
                <a:spcPct val="150000"/>
              </a:lnSpc>
            </a:pPr>
            <a:r>
              <a: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评委说：你的论文建议你在数据处理中利用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.....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进行改进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建议你丰富研究结论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.....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建议从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.....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角度研究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.....</a:t>
            </a:r>
            <a:endParaRPr 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你仅回答：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谢谢老师提的建议，以后会改进完善的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.....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90930" y="725805"/>
            <a:ext cx="5322570" cy="4108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6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不需要你回答的问题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：</a:t>
            </a:r>
            <a:endParaRPr lang="zh-CN" altLang="en-US" sz="16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183120" y="1136650"/>
            <a:ext cx="1960880" cy="37084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遇到建议！礼貌接受！</a:t>
            </a:r>
            <a:endParaRPr lang="zh-CN" altLang="en-US" sz="1400" b="1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84580" y="2871470"/>
            <a:ext cx="5322570" cy="1545590"/>
          </a:xfrm>
          <a:prstGeom prst="rect">
            <a:avLst/>
          </a:prstGeom>
          <a:solidFill>
            <a:srgbClr val="E6C8E3"/>
          </a:solidFill>
        </p:spPr>
        <p:txBody>
          <a:bodyPr wrap="square" lIns="68580" tIns="34290" rIns="68580" bIns="34290">
            <a:spAutoFit/>
          </a:bodyPr>
          <a:p>
            <a:pPr>
              <a:lnSpc>
                <a:spcPct val="150000"/>
              </a:lnSpc>
            </a:pPr>
            <a:r>
              <a: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评委说：谈谈你论文的设计思路，方法的选择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.....</a:t>
            </a:r>
            <a:endParaRPr 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你先回答：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先回答自己会的问题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.....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不会的先不答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 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可能其他评委会继续提问（掩盖尴尬）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          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如一再追问该问题，再道歉！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84580" y="2500630"/>
            <a:ext cx="5322570" cy="4108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6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遇到必须回答你还不会的问题</a:t>
            </a:r>
            <a:r>
              <a:rPr lang="zh-CN" altLang="en-US" sz="1600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：</a:t>
            </a:r>
            <a:endParaRPr lang="zh-CN" altLang="en-US" sz="1600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85660" y="2871470"/>
            <a:ext cx="1958340" cy="37084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zh-CN" altLang="en-US" sz="14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先答会的！</a:t>
            </a:r>
            <a:r>
              <a:rPr lang="en-US" altLang="zh-CN" sz="14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zh-CN" altLang="en-US" sz="1400" b="1" dirty="0" smtClean="0">
                <a:latin typeface="Arial" panose="020B0604020202020204" pitchFamily="34" charset="0"/>
                <a:ea typeface="微软雅黑" panose="020B0503020204020204" pitchFamily="34" charset="-122"/>
              </a:rPr>
              <a:t>再道歉！</a:t>
            </a:r>
            <a:endParaRPr lang="zh-CN" altLang="en-US" sz="1400" b="1" dirty="0" smtClean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ldLvl="0" animBg="1"/>
      <p:bldP spid="2" grpId="0" bldLvl="0" animBg="1"/>
      <p:bldP spid="8" grpId="0" bldLvl="0" animBg="1"/>
    </p:bldLst>
  </p:timing>
</p:sld>
</file>

<file path=ppt/tags/tag1.xml><?xml version="1.0" encoding="utf-8"?>
<p:tagLst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A000120140530A99PPBG">
  <a:themeElements>
    <a:clrScheme name="自定义 95">
      <a:dk1>
        <a:sysClr val="windowText" lastClr="000000"/>
      </a:dk1>
      <a:lt1>
        <a:sysClr val="window" lastClr="FFFFFF"/>
      </a:lt1>
      <a:dk2>
        <a:srgbClr val="3F3F3F"/>
      </a:dk2>
      <a:lt2>
        <a:srgbClr val="E3DED1"/>
      </a:lt2>
      <a:accent1>
        <a:srgbClr val="071F65"/>
      </a:accent1>
      <a:accent2>
        <a:srgbClr val="7F7F7F"/>
      </a:accent2>
      <a:accent3>
        <a:srgbClr val="414456"/>
      </a:accent3>
      <a:accent4>
        <a:srgbClr val="444455"/>
      </a:accent4>
      <a:accent5>
        <a:srgbClr val="444455"/>
      </a:accent5>
      <a:accent6>
        <a:srgbClr val="7F7F7F"/>
      </a:accent6>
      <a:hlink>
        <a:srgbClr val="002060"/>
      </a:hlink>
      <a:folHlink>
        <a:srgbClr val="B26B02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A000120140627A33KPBG</Template>
  <TotalTime>0</TotalTime>
  <Words>1515</Words>
  <Application>WPS 演示</Application>
  <PresentationFormat>On-screen Show (16:9)</PresentationFormat>
  <Paragraphs>87</Paragraphs>
  <Slides>5</Slides>
  <Notes>39</Notes>
  <HiddenSlides>0</HiddenSlides>
  <MMClips>1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Arial Black</vt:lpstr>
      <vt:lpstr>Wingdings 2</vt:lpstr>
      <vt:lpstr>Wingdings</vt:lpstr>
      <vt:lpstr>幼圆</vt:lpstr>
      <vt:lpstr>Calibri</vt:lpstr>
      <vt:lpstr>Calibri</vt:lpstr>
      <vt:lpstr>Agency FB</vt:lpstr>
      <vt:lpstr>Trebuchet MS</vt:lpstr>
      <vt:lpstr>Times New Roman</vt:lpstr>
      <vt:lpstr>Swiss911 UCm BT</vt:lpstr>
      <vt:lpstr>Impact</vt:lpstr>
      <vt:lpstr>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阿斌哥</cp:lastModifiedBy>
  <cp:revision>11</cp:revision>
  <dcterms:created xsi:type="dcterms:W3CDTF">2022-02-18T23:59:00Z</dcterms:created>
  <dcterms:modified xsi:type="dcterms:W3CDTF">2026-01-21T00:19:05Z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5BA3F6AB1EA94652A0A33DB50B4D9744</vt:lpwstr>
  </property>
  <property fmtid="{D5CDD505-2E9C-101B-9397-08002B2CF9AE}" pid="3" name="KSOProductBuildVer">
    <vt:lpwstr>2052-12.1.0.24657</vt:lpwstr>
  </property>
</Properties>
</file>
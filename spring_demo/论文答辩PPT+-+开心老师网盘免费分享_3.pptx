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480" r:id="rId3"/>
    <p:sldId id="407" r:id="rId5"/>
    <p:sldId id="402" r:id="rId6"/>
    <p:sldId id="481" r:id="rId7"/>
    <p:sldId id="524" r:id="rId8"/>
  </p:sldIdLst>
  <p:sldSz cx="9144000" cy="5143500" type="screen16x9"/>
  <p:notesSz cx="6858000" cy="9144000"/>
  <p:custDataLst>
    <p:tags r:id="rId13"/>
  </p:custDataLst>
  <p:defaultTextStyle>
    <a:defPPr>
      <a:defRPr lang="zh-CN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637" userDrawn="1">
          <p15:clr>
            <a:srgbClr val="A4A3A4"/>
          </p15:clr>
        </p15:guide>
        <p15:guide id="4" orient="horz" pos="680" userDrawn="1">
          <p15:clr>
            <a:srgbClr val="A4A3A4"/>
          </p15:clr>
        </p15:guide>
        <p15:guide id="5" orient="horz" pos="2927" userDrawn="1">
          <p15:clr>
            <a:srgbClr val="A4A3A4"/>
          </p15:clr>
        </p15:guide>
        <p15:guide id="6" pos="2881" userDrawn="1">
          <p15:clr>
            <a:srgbClr val="A4A3A4"/>
          </p15:clr>
        </p15:guide>
        <p15:guide id="7" pos="340" userDrawn="1">
          <p15:clr>
            <a:srgbClr val="A4A3A4"/>
          </p15:clr>
        </p15:guide>
        <p15:guide id="8" pos="53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C8E3"/>
    <a:srgbClr val="C0E499"/>
    <a:srgbClr val="F39700"/>
    <a:srgbClr val="909090"/>
    <a:srgbClr val="454545"/>
    <a:srgbClr val="FF8607"/>
    <a:srgbClr val="282828"/>
    <a:srgbClr val="071F65"/>
    <a:srgbClr val="006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7" autoAdjust="0"/>
    <p:restoredTop sz="95494" autoAdjust="0"/>
  </p:normalViewPr>
  <p:slideViewPr>
    <p:cSldViewPr snapToGrid="0" snapToObjects="1">
      <p:cViewPr varScale="1">
        <p:scale>
          <a:sx n="90" d="100"/>
          <a:sy n="90" d="100"/>
        </p:scale>
        <p:origin x="678" y="84"/>
      </p:cViewPr>
      <p:guideLst>
        <p:guide orient="horz" pos="2160"/>
        <p:guide pos="3840"/>
        <p:guide orient="horz" pos="1637"/>
        <p:guide orient="horz" pos="680"/>
        <p:guide orient="horz" pos="2927"/>
        <p:guide pos="2881"/>
        <p:guide pos="340"/>
        <p:guide pos="53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18F8A-74B5-9148-A891-627592061A3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768D9-5829-CA4C-800C-5932EF9830F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6ACD6-F780-4A47-B5D9-D292A4BD6F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136860" y="4786900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 advClick="0" advTm="0">
    <p:wipe/>
  </p:transition>
  <p:timing>
    <p:tnLst>
      <p:par>
        <p:cTn id="1" dur="indefinite" restart="never" nodeType="tmRoot"/>
      </p:par>
    </p:tnLst>
  </p:timing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67970" indent="-267970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15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267970" indent="-267970" algn="just" defTabSz="685800" rtl="0" eaLnBrk="1" latinLnBrk="0" hangingPunct="1">
        <a:lnSpc>
          <a:spcPct val="130000"/>
        </a:lnSpc>
        <a:spcBef>
          <a:spcPts val="0"/>
        </a:spcBef>
        <a:spcAft>
          <a:spcPts val="45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2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5584648" y="-338488"/>
            <a:ext cx="1718803" cy="5399903"/>
          </a:xfrm>
          <a:prstGeom prst="trapezoid">
            <a:avLst>
              <a:gd name="adj" fmla="val 16935"/>
            </a:avLst>
          </a:prstGeom>
          <a:solidFill>
            <a:srgbClr val="071F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7" name="梯形 36"/>
          <p:cNvSpPr/>
          <p:nvPr/>
        </p:nvSpPr>
        <p:spPr>
          <a:xfrm rot="5400000">
            <a:off x="998730" y="477602"/>
            <a:ext cx="1758050" cy="3755509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26" name="文本框 1"/>
          <p:cNvSpPr txBox="1"/>
          <p:nvPr/>
        </p:nvSpPr>
        <p:spPr>
          <a:xfrm>
            <a:off x="2796809" y="1334898"/>
            <a:ext cx="946413" cy="3924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2100" dirty="0">
                <a:solidFill>
                  <a:srgbClr val="071F65"/>
                </a:solidFill>
                <a:latin typeface="+mj-ea"/>
                <a:ea typeface="+mj-ea"/>
              </a:rPr>
              <a:t>过渡页</a:t>
            </a:r>
            <a:endParaRPr lang="zh-CN" altLang="en-US" sz="2100" dirty="0">
              <a:solidFill>
                <a:srgbClr val="071F65"/>
              </a:solidFill>
              <a:latin typeface="+mj-ea"/>
              <a:ea typeface="+mj-ea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2796809" y="1917123"/>
            <a:ext cx="872675" cy="900246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b="1" dirty="0" smtClean="0">
                <a:solidFill>
                  <a:schemeClr val="bg1"/>
                </a:solidFill>
              </a:rPr>
              <a:t>Part</a:t>
            </a:r>
            <a:r>
              <a:rPr lang="en-US" altLang="zh-CN" sz="5400" b="1" dirty="0" smtClean="0">
                <a:solidFill>
                  <a:schemeClr val="bg1"/>
                </a:solidFill>
              </a:rPr>
              <a:t>2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229098" y="2019303"/>
            <a:ext cx="2423160" cy="622300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l"/>
            <a:r>
              <a:rPr lang="zh-CN" altLang="en-US" sz="3600" b="1" dirty="0" smtClean="0">
                <a:solidFill>
                  <a:schemeClr val="bg1"/>
                </a:solidFill>
              </a:rPr>
              <a:t>内容与</a:t>
            </a:r>
            <a:r>
              <a:rPr lang="zh-CN" altLang="en-US" sz="3600" b="1" dirty="0" smtClean="0">
                <a:solidFill>
                  <a:schemeClr val="bg1"/>
                </a:solidFill>
                <a:sym typeface="+mn-ea"/>
              </a:rPr>
              <a:t>思路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460" y="1955800"/>
            <a:ext cx="2050415" cy="890963"/>
            <a:chOff x="9140243" y="2649839"/>
            <a:chExt cx="1601046" cy="1188179"/>
          </a:xfrm>
        </p:grpSpPr>
        <p:sp>
          <p:nvSpPr>
            <p:cNvPr id="32" name="矩形 31"/>
            <p:cNvSpPr/>
            <p:nvPr/>
          </p:nvSpPr>
          <p:spPr>
            <a:xfrm>
              <a:off x="9140243" y="2649839"/>
              <a:ext cx="1601046" cy="4090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dirty="0">
                  <a:solidFill>
                    <a:schemeClr val="bg1"/>
                  </a:solidFill>
                </a:rPr>
                <a:t>2</a:t>
              </a:r>
              <a:r>
                <a:rPr kumimoji="1" lang="en-US" altLang="zh-CN" dirty="0" smtClean="0">
                  <a:solidFill>
                    <a:schemeClr val="bg1"/>
                  </a:solidFill>
                </a:rPr>
                <a:t>-1 </a:t>
              </a:r>
              <a:r>
                <a:rPr lang="zh-CN" altLang="en-US" dirty="0" smtClean="0">
                  <a:solidFill>
                    <a:schemeClr val="bg1"/>
                  </a:solidFill>
                  <a:sym typeface="微软雅黑" panose="020B0503020204020204" pitchFamily="34" charset="-122"/>
                </a:rPr>
                <a:t>研究</a:t>
              </a:r>
              <a:r>
                <a:rPr lang="zh-CN" altLang="en-US" dirty="0">
                  <a:solidFill>
                    <a:schemeClr val="bg1"/>
                  </a:solidFill>
                  <a:sym typeface="微软雅黑" panose="020B0503020204020204" pitchFamily="34" charset="-122"/>
                </a:rPr>
                <a:t>内容</a:t>
              </a:r>
              <a:endParaRPr lang="zh-CN" altLang="en-US" dirty="0">
                <a:solidFill>
                  <a:schemeClr val="bg1"/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9140243" y="3037021"/>
              <a:ext cx="1601046" cy="4090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</a:rPr>
                <a:t>2-2 </a:t>
              </a:r>
              <a:r>
                <a:rPr lang="zh-CN" altLang="en-US" dirty="0" smtClean="0">
                  <a:solidFill>
                    <a:schemeClr val="bg1"/>
                  </a:solidFill>
                </a:rPr>
                <a:t>研究思路</a:t>
              </a:r>
              <a:endParaRPr lang="zh-CN" altLang="en-US" dirty="0" smtClean="0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9140243" y="3429000"/>
              <a:ext cx="1601046" cy="4090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dirty="0">
                  <a:solidFill>
                    <a:schemeClr val="bg1"/>
                  </a:solidFill>
                </a:rPr>
                <a:t>2</a:t>
              </a:r>
              <a:r>
                <a:rPr kumimoji="1" lang="en-US" altLang="zh-CN" dirty="0" smtClean="0">
                  <a:solidFill>
                    <a:schemeClr val="bg1"/>
                  </a:solidFill>
                </a:rPr>
                <a:t>-3 </a:t>
              </a:r>
              <a:r>
                <a:rPr kumimoji="1" lang="zh-CN" altLang="en-US" dirty="0" smtClean="0">
                  <a:solidFill>
                    <a:schemeClr val="bg1"/>
                  </a:solidFill>
                </a:rPr>
                <a:t>技术路线</a:t>
              </a:r>
              <a:r>
                <a:rPr kumimoji="1" lang="en-US" altLang="zh-CN" dirty="0" smtClean="0">
                  <a:solidFill>
                    <a:schemeClr val="bg1"/>
                  </a:solidFill>
                </a:rPr>
                <a:t>  </a:t>
              </a:r>
              <a:r>
                <a:rPr kumimoji="1" lang="zh-CN" altLang="en-US" dirty="0" smtClean="0">
                  <a:solidFill>
                    <a:srgbClr val="002060"/>
                  </a:solidFill>
                  <a:highlight>
                    <a:srgbClr val="FFFF00"/>
                  </a:highlight>
                  <a:sym typeface="+mn-ea"/>
                </a:rPr>
                <a:t>（可省略）</a:t>
              </a:r>
              <a:endParaRPr kumimoji="1" lang="en-US" altLang="zh-CN" dirty="0" smtClean="0">
                <a:solidFill>
                  <a:schemeClr val="bg1"/>
                </a:solidFill>
              </a:endParaRPr>
            </a:p>
          </p:txBody>
        </p:sp>
      </p:grp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0">
        <p14:prism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26" grpId="0"/>
      <p:bldP spid="27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90393" y="2281157"/>
            <a:ext cx="7959642" cy="1289752"/>
            <a:chOff x="787171" y="2988535"/>
            <a:chExt cx="10612880" cy="1719669"/>
          </a:xfrm>
        </p:grpSpPr>
        <p:sp>
          <p:nvSpPr>
            <p:cNvPr id="7" name="椭圆 6"/>
            <p:cNvSpPr/>
            <p:nvPr/>
          </p:nvSpPr>
          <p:spPr>
            <a:xfrm>
              <a:off x="787171" y="3378470"/>
              <a:ext cx="939802" cy="93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虚尾箭头 7"/>
            <p:cNvSpPr/>
            <p:nvPr/>
          </p:nvSpPr>
          <p:spPr>
            <a:xfrm>
              <a:off x="1975573" y="3670570"/>
              <a:ext cx="546101" cy="355600"/>
            </a:xfrm>
            <a:prstGeom prst="striped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2664243" y="3378470"/>
              <a:ext cx="939800" cy="93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整理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虚尾箭头 9"/>
            <p:cNvSpPr/>
            <p:nvPr/>
          </p:nvSpPr>
          <p:spPr>
            <a:xfrm>
              <a:off x="3736008" y="3670570"/>
              <a:ext cx="546101" cy="355600"/>
            </a:xfrm>
            <a:prstGeom prst="striped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445879" y="3378470"/>
              <a:ext cx="939800" cy="93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参考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虚尾箭头 11"/>
            <p:cNvSpPr/>
            <p:nvPr/>
          </p:nvSpPr>
          <p:spPr>
            <a:xfrm>
              <a:off x="5496443" y="3670570"/>
              <a:ext cx="546101" cy="355600"/>
            </a:xfrm>
            <a:prstGeom prst="striped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6163909" y="2988535"/>
              <a:ext cx="1719669" cy="17196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</a:t>
              </a:r>
              <a:endPara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8619402" y="3378470"/>
              <a:ext cx="939800" cy="93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结论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虚尾箭头 14"/>
            <p:cNvSpPr/>
            <p:nvPr/>
          </p:nvSpPr>
          <p:spPr>
            <a:xfrm>
              <a:off x="7983741" y="3670570"/>
              <a:ext cx="546100" cy="355600"/>
            </a:xfrm>
            <a:prstGeom prst="striped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虚尾箭头 15"/>
            <p:cNvSpPr/>
            <p:nvPr/>
          </p:nvSpPr>
          <p:spPr>
            <a:xfrm>
              <a:off x="9659366" y="3670570"/>
              <a:ext cx="546100" cy="355600"/>
            </a:xfrm>
            <a:prstGeom prst="striped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0316234" y="3306462"/>
              <a:ext cx="1083817" cy="10838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建议</a:t>
              </a:r>
              <a:endPara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90835" y="1081984"/>
            <a:ext cx="2011159" cy="1389290"/>
            <a:chOff x="895845" y="1030514"/>
            <a:chExt cx="2681545" cy="1852386"/>
          </a:xfrm>
        </p:grpSpPr>
        <p:sp>
          <p:nvSpPr>
            <p:cNvPr id="31" name="椭圆 30"/>
            <p:cNvSpPr/>
            <p:nvPr/>
          </p:nvSpPr>
          <p:spPr>
            <a:xfrm>
              <a:off x="895845" y="2755900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2" name="直接连接符 31"/>
            <p:cNvCxnSpPr>
              <a:stCxn id="31" idx="0"/>
            </p:cNvCxnSpPr>
            <p:nvPr/>
          </p:nvCxnSpPr>
          <p:spPr>
            <a:xfrm flipV="1">
              <a:off x="959345" y="1030514"/>
              <a:ext cx="0" cy="172538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"/>
            <p:cNvSpPr txBox="1"/>
            <p:nvPr/>
          </p:nvSpPr>
          <p:spPr>
            <a:xfrm>
              <a:off x="1022845" y="1054578"/>
              <a:ext cx="2554545" cy="16619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数据来源</a:t>
              </a:r>
              <a:endParaRPr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上海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杭州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宁波等地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山核桃产业相关机构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33234" y="3361277"/>
            <a:ext cx="1777555" cy="1182740"/>
            <a:chOff x="2283386" y="4214343"/>
            <a:chExt cx="2370073" cy="1576986"/>
          </a:xfrm>
        </p:grpSpPr>
        <p:sp>
          <p:nvSpPr>
            <p:cNvPr id="28" name="椭圆 27"/>
            <p:cNvSpPr/>
            <p:nvPr/>
          </p:nvSpPr>
          <p:spPr>
            <a:xfrm>
              <a:off x="4526459" y="4214343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4586152" y="4338634"/>
              <a:ext cx="0" cy="1322614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3"/>
            <p:cNvSpPr txBox="1"/>
            <p:nvPr/>
          </p:nvSpPr>
          <p:spPr>
            <a:xfrm>
              <a:off x="2283386" y="4437112"/>
              <a:ext cx="2298065" cy="1354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15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理论基础</a:t>
              </a:r>
              <a:endParaRPr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贝尔模型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集群品牌形象特点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相关文献资料</a:t>
              </a:r>
              <a:endPara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742206" y="1110737"/>
            <a:ext cx="1053643" cy="1371242"/>
            <a:chOff x="4831624" y="1054578"/>
            <a:chExt cx="1404858" cy="1828322"/>
          </a:xfrm>
        </p:grpSpPr>
        <p:sp>
          <p:nvSpPr>
            <p:cNvPr id="25" name="椭圆 24"/>
            <p:cNvSpPr/>
            <p:nvPr/>
          </p:nvSpPr>
          <p:spPr>
            <a:xfrm>
              <a:off x="4831624" y="2755900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 flipV="1">
              <a:off x="4885010" y="1054578"/>
              <a:ext cx="0" cy="170132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3"/>
            <p:cNvSpPr txBox="1"/>
            <p:nvPr/>
          </p:nvSpPr>
          <p:spPr>
            <a:xfrm>
              <a:off x="4964339" y="1054578"/>
              <a:ext cx="1272143" cy="16619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四项维度</a:t>
              </a:r>
              <a:endParaRPr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产品形象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文化传承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区位环境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产业形象</a:t>
              </a:r>
              <a:endPara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616708" y="1081984"/>
            <a:ext cx="2011159" cy="1389290"/>
            <a:chOff x="895845" y="1030514"/>
            <a:chExt cx="2681545" cy="1852386"/>
          </a:xfrm>
        </p:grpSpPr>
        <p:sp>
          <p:nvSpPr>
            <p:cNvPr id="35" name="椭圆 34"/>
            <p:cNvSpPr/>
            <p:nvPr/>
          </p:nvSpPr>
          <p:spPr>
            <a:xfrm>
              <a:off x="895845" y="2755900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6" name="直接连接符 35"/>
            <p:cNvCxnSpPr>
              <a:stCxn id="35" idx="0"/>
            </p:cNvCxnSpPr>
            <p:nvPr/>
          </p:nvCxnSpPr>
          <p:spPr>
            <a:xfrm flipV="1">
              <a:off x="959345" y="1030514"/>
              <a:ext cx="0" cy="172538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"/>
            <p:cNvSpPr txBox="1"/>
            <p:nvPr/>
          </p:nvSpPr>
          <p:spPr>
            <a:xfrm>
              <a:off x="1022845" y="1054578"/>
              <a:ext cx="2554545" cy="16619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数据来源</a:t>
              </a:r>
              <a:endParaRPr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上海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杭州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宁波等地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山核桃产业相关机构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434087" y="3361277"/>
            <a:ext cx="1777555" cy="1182740"/>
            <a:chOff x="2283386" y="4214343"/>
            <a:chExt cx="2370073" cy="1576986"/>
          </a:xfrm>
        </p:grpSpPr>
        <p:sp>
          <p:nvSpPr>
            <p:cNvPr id="39" name="椭圆 38"/>
            <p:cNvSpPr/>
            <p:nvPr/>
          </p:nvSpPr>
          <p:spPr>
            <a:xfrm>
              <a:off x="4526459" y="4214343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4586152" y="4338634"/>
              <a:ext cx="0" cy="1322614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3"/>
            <p:cNvSpPr txBox="1"/>
            <p:nvPr/>
          </p:nvSpPr>
          <p:spPr>
            <a:xfrm>
              <a:off x="2283386" y="4437112"/>
              <a:ext cx="2298065" cy="1354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15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理论基础</a:t>
              </a:r>
              <a:endParaRPr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贝尔模型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集群品牌形象特点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相关文献资料</a:t>
              </a:r>
              <a:endPara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571806" y="3642654"/>
            <a:ext cx="1777555" cy="1182740"/>
            <a:chOff x="2283386" y="4214343"/>
            <a:chExt cx="2370073" cy="1576986"/>
          </a:xfrm>
        </p:grpSpPr>
        <p:sp>
          <p:nvSpPr>
            <p:cNvPr id="43" name="椭圆 42"/>
            <p:cNvSpPr/>
            <p:nvPr/>
          </p:nvSpPr>
          <p:spPr>
            <a:xfrm>
              <a:off x="4526459" y="4214343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4586152" y="4338634"/>
              <a:ext cx="0" cy="1322614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3"/>
            <p:cNvSpPr txBox="1"/>
            <p:nvPr/>
          </p:nvSpPr>
          <p:spPr>
            <a:xfrm>
              <a:off x="2283386" y="4437112"/>
              <a:ext cx="2298065" cy="1354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15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理论基础</a:t>
              </a:r>
              <a:endParaRPr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贝尔模型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集群品牌形象特点</a:t>
              </a:r>
              <a:endPara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zh-CN" altLang="en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相关文献资料</a:t>
              </a:r>
              <a:endPara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矩形 46"/>
          <p:cNvSpPr>
            <a:spLocks noChangeArrowheads="1"/>
          </p:cNvSpPr>
          <p:nvPr/>
        </p:nvSpPr>
        <p:spPr bwMode="auto">
          <a:xfrm>
            <a:off x="476188" y="177842"/>
            <a:ext cx="2329815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研究内容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          </a:t>
            </a:r>
            <a:r>
              <a:rPr lang="en-US" altLang="zh-CN" sz="2400" b="1" dirty="0" smtClean="0">
                <a:solidFill>
                  <a:schemeClr val="accent1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endParaRPr lang="en-US" altLang="zh-CN" sz="2400" b="1" dirty="0" smtClean="0">
              <a:solidFill>
                <a:schemeClr val="accent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4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175" y="405765"/>
            <a:ext cx="5076825" cy="466725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1"/>
          <p:cNvSpPr>
            <a:spLocks noChangeArrowheads="1"/>
          </p:cNvSpPr>
          <p:nvPr/>
        </p:nvSpPr>
        <p:spPr bwMode="auto">
          <a:xfrm>
            <a:off x="874415" y="1019628"/>
            <a:ext cx="1036181" cy="284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输入内容：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927624" y="1374659"/>
            <a:ext cx="2250658" cy="374309"/>
            <a:chOff x="2645777" y="1428360"/>
            <a:chExt cx="1523389" cy="914033"/>
          </a:xfrm>
        </p:grpSpPr>
        <p:sp>
          <p:nvSpPr>
            <p:cNvPr id="48" name="矩形 47"/>
            <p:cNvSpPr/>
            <p:nvPr/>
          </p:nvSpPr>
          <p:spPr>
            <a:xfrm>
              <a:off x="2645777" y="1428360"/>
              <a:ext cx="1523389" cy="91403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073" tIns="131073" rIns="131073" bIns="131073" numCol="1" spcCol="1270" anchor="ctr" anchorCtr="0">
              <a:noAutofit/>
            </a:bodyPr>
            <a:lstStyle/>
            <a:p>
              <a:pPr algn="ctr" defTabSz="96710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200"/>
            </a:p>
          </p:txBody>
        </p:sp>
        <p:sp>
          <p:nvSpPr>
            <p:cNvPr id="52" name="文本框 25"/>
            <p:cNvSpPr txBox="1"/>
            <p:nvPr/>
          </p:nvSpPr>
          <p:spPr>
            <a:xfrm>
              <a:off x="2645777" y="1575354"/>
              <a:ext cx="1514250" cy="676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 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添加标题内容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435443" y="1374659"/>
            <a:ext cx="2250658" cy="374309"/>
            <a:chOff x="2645777" y="1428360"/>
            <a:chExt cx="1523389" cy="914033"/>
          </a:xfrm>
        </p:grpSpPr>
        <p:sp>
          <p:nvSpPr>
            <p:cNvPr id="54" name="矩形 53"/>
            <p:cNvSpPr/>
            <p:nvPr/>
          </p:nvSpPr>
          <p:spPr>
            <a:xfrm>
              <a:off x="2645777" y="1428360"/>
              <a:ext cx="1523389" cy="91403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073" tIns="131073" rIns="131073" bIns="131073" numCol="1" spcCol="1270" anchor="ctr" anchorCtr="0">
              <a:noAutofit/>
            </a:bodyPr>
            <a:lstStyle/>
            <a:p>
              <a:pPr algn="ctr" defTabSz="96710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200"/>
            </a:p>
          </p:txBody>
        </p:sp>
        <p:sp>
          <p:nvSpPr>
            <p:cNvPr id="55" name="文本框 28"/>
            <p:cNvSpPr txBox="1"/>
            <p:nvPr/>
          </p:nvSpPr>
          <p:spPr>
            <a:xfrm>
              <a:off x="2645777" y="1575354"/>
              <a:ext cx="1514250" cy="676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 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添加标题内容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874416" y="1844161"/>
            <a:ext cx="7950550" cy="307777"/>
            <a:chOff x="557975" y="2161954"/>
            <a:chExt cx="9337947" cy="410369"/>
          </a:xfrm>
        </p:grpSpPr>
        <p:sp>
          <p:nvSpPr>
            <p:cNvPr id="57" name="Rectangle 1"/>
            <p:cNvSpPr>
              <a:spLocks noChangeArrowheads="1"/>
            </p:cNvSpPr>
            <p:nvPr/>
          </p:nvSpPr>
          <p:spPr bwMode="auto">
            <a:xfrm>
              <a:off x="557975" y="2161954"/>
              <a:ext cx="1482087" cy="410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spAutoFit/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添加小标题：</a:t>
              </a:r>
              <a:endPara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1983773" y="2182473"/>
              <a:ext cx="791214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您的内容打在这里，或者通过复制您的文本后，并选择只保留文字。</a:t>
              </a:r>
              <a:endPara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874415" y="2238740"/>
            <a:ext cx="6789966" cy="307777"/>
            <a:chOff x="557975" y="2688060"/>
            <a:chExt cx="7974838" cy="410369"/>
          </a:xfrm>
        </p:grpSpPr>
        <p:sp>
          <p:nvSpPr>
            <p:cNvPr id="60" name="Rectangle 1"/>
            <p:cNvSpPr>
              <a:spLocks noChangeArrowheads="1"/>
            </p:cNvSpPr>
            <p:nvPr/>
          </p:nvSpPr>
          <p:spPr bwMode="auto">
            <a:xfrm>
              <a:off x="557975" y="2688060"/>
              <a:ext cx="1482087" cy="410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spAutoFit/>
            </a:bodyPr>
            <a:lstStyle/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添加小标题：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1983774" y="2708579"/>
              <a:ext cx="654903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您的内容打在这里，或者通过复制您的文本后，并选择只保留文字。</a:t>
              </a:r>
              <a:endPara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27622" y="2842311"/>
            <a:ext cx="7264297" cy="1842677"/>
            <a:chOff x="611187" y="3614057"/>
            <a:chExt cx="7921625" cy="2678872"/>
          </a:xfrm>
        </p:grpSpPr>
        <p:sp>
          <p:nvSpPr>
            <p:cNvPr id="66" name="形状 65"/>
            <p:cNvSpPr/>
            <p:nvPr/>
          </p:nvSpPr>
          <p:spPr>
            <a:xfrm>
              <a:off x="611187" y="3614057"/>
              <a:ext cx="7921625" cy="2678872"/>
            </a:xfrm>
            <a:prstGeom prst="leftRightRibbon">
              <a:avLst>
                <a:gd name="adj1" fmla="val 54481"/>
                <a:gd name="adj2" fmla="val 50000"/>
                <a:gd name="adj3" fmla="val 16667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7" name="矩形 66"/>
            <p:cNvSpPr/>
            <p:nvPr/>
          </p:nvSpPr>
          <p:spPr>
            <a:xfrm>
              <a:off x="1150112" y="4142025"/>
              <a:ext cx="3175145" cy="1181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42900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4571999" y="4638717"/>
              <a:ext cx="3175145" cy="1181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42900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476188" y="177842"/>
            <a:ext cx="6174740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研究思路及技术路线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      </a:t>
            </a:r>
            <a:r>
              <a:rPr lang="zh-CN" altLang="en-US" sz="2400" b="1" dirty="0" smtClean="0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（时间紧，可省略）</a:t>
            </a:r>
            <a:endParaRPr lang="en-US" altLang="zh-CN" sz="2400" b="1" dirty="0" smtClean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26" grpId="0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5584648" y="-338488"/>
            <a:ext cx="1718803" cy="5399903"/>
          </a:xfrm>
          <a:prstGeom prst="trapezoid">
            <a:avLst>
              <a:gd name="adj" fmla="val 16935"/>
            </a:avLst>
          </a:prstGeom>
          <a:solidFill>
            <a:srgbClr val="071F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7" name="梯形 36"/>
          <p:cNvSpPr/>
          <p:nvPr/>
        </p:nvSpPr>
        <p:spPr>
          <a:xfrm rot="5400000">
            <a:off x="998730" y="477602"/>
            <a:ext cx="1758050" cy="3755509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26" name="文本框 1"/>
          <p:cNvSpPr txBox="1"/>
          <p:nvPr/>
        </p:nvSpPr>
        <p:spPr>
          <a:xfrm>
            <a:off x="2796809" y="1334898"/>
            <a:ext cx="946413" cy="3924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2100" dirty="0">
                <a:solidFill>
                  <a:srgbClr val="071F65"/>
                </a:solidFill>
                <a:latin typeface="+mj-ea"/>
                <a:ea typeface="+mj-ea"/>
              </a:rPr>
              <a:t>过渡页</a:t>
            </a:r>
            <a:endParaRPr lang="zh-CN" altLang="en-US" sz="2100" dirty="0">
              <a:solidFill>
                <a:srgbClr val="071F65"/>
              </a:solidFill>
              <a:latin typeface="+mj-ea"/>
              <a:ea typeface="+mj-ea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2796809" y="1917123"/>
            <a:ext cx="872675" cy="900246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b="1" dirty="0" smtClean="0">
                <a:solidFill>
                  <a:schemeClr val="bg1"/>
                </a:solidFill>
              </a:rPr>
              <a:t>Part</a:t>
            </a:r>
            <a:r>
              <a:rPr lang="en-US" altLang="zh-CN" sz="5400" b="1" dirty="0" smtClean="0">
                <a:solidFill>
                  <a:schemeClr val="bg1"/>
                </a:solidFill>
              </a:rPr>
              <a:t>3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229098" y="2019303"/>
            <a:ext cx="2423160" cy="622300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</a:rPr>
              <a:t>方法及过程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269687" y="1774521"/>
            <a:ext cx="1619875" cy="1174735"/>
            <a:chOff x="5838755" y="1774521"/>
            <a:chExt cx="1619875" cy="1174735"/>
          </a:xfrm>
        </p:grpSpPr>
        <p:grpSp>
          <p:nvGrpSpPr>
            <p:cNvPr id="31" name="组合 30"/>
            <p:cNvGrpSpPr/>
            <p:nvPr/>
          </p:nvGrpSpPr>
          <p:grpSpPr>
            <a:xfrm>
              <a:off x="5838755" y="1774521"/>
              <a:ext cx="1605915" cy="891370"/>
              <a:chOff x="9140243" y="2649839"/>
              <a:chExt cx="2141220" cy="1188493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9140243" y="2649839"/>
                <a:ext cx="1601046" cy="408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1" lang="en-US" altLang="zh-CN" dirty="0">
                    <a:solidFill>
                      <a:schemeClr val="bg1"/>
                    </a:solidFill>
                  </a:rPr>
                  <a:t>3</a:t>
                </a:r>
                <a:r>
                  <a:rPr kumimoji="1" lang="en-US" altLang="zh-CN" dirty="0" smtClean="0">
                    <a:solidFill>
                      <a:schemeClr val="bg1"/>
                    </a:solidFill>
                  </a:rPr>
                  <a:t>-1 </a:t>
                </a:r>
                <a:r>
                  <a:rPr kumimoji="1" lang="zh-CN" altLang="en-US" dirty="0" smtClean="0">
                    <a:solidFill>
                      <a:schemeClr val="bg1"/>
                    </a:solidFill>
                  </a:rPr>
                  <a:t>研究方法</a:t>
                </a:r>
                <a:endParaRPr lang="zh-CN" altLang="en-US" dirty="0">
                  <a:solidFill>
                    <a:schemeClr val="bg1"/>
                  </a:solidFill>
                  <a:sym typeface="微软雅黑" panose="020B0503020204020204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9140243" y="3037021"/>
                <a:ext cx="2141220" cy="408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1"/>
                    </a:solidFill>
                  </a:rPr>
                  <a:t>3-2 </a:t>
                </a:r>
                <a:r>
                  <a:rPr lang="zh-CN" altLang="en-US" dirty="0" smtClean="0">
                    <a:solidFill>
                      <a:schemeClr val="bg1"/>
                    </a:solidFill>
                  </a:rPr>
                  <a:t>问卷调查</a:t>
                </a:r>
                <a:r>
                  <a:rPr lang="en-US" altLang="zh-CN" dirty="0" smtClean="0">
                    <a:solidFill>
                      <a:schemeClr val="bg1"/>
                    </a:solidFill>
                  </a:rPr>
                  <a:t>/</a:t>
                </a:r>
                <a:r>
                  <a:rPr lang="zh-CN" altLang="en-US" dirty="0" smtClean="0">
                    <a:solidFill>
                      <a:schemeClr val="bg1"/>
                    </a:solidFill>
                  </a:rPr>
                  <a:t>实验</a:t>
                </a:r>
                <a:endParaRPr lang="zh-CN" altLang="en-US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9140243" y="3429000"/>
                <a:ext cx="2141220" cy="40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dirty="0">
                    <a:solidFill>
                      <a:schemeClr val="bg1"/>
                    </a:solidFill>
                  </a:rPr>
                  <a:t>3</a:t>
                </a:r>
                <a:r>
                  <a:rPr kumimoji="1" lang="en-US" altLang="zh-CN" dirty="0" smtClean="0">
                    <a:solidFill>
                      <a:schemeClr val="bg1"/>
                    </a:solidFill>
                  </a:rPr>
                  <a:t>-3 </a:t>
                </a:r>
                <a:r>
                  <a:rPr kumimoji="1" lang="zh-CN" altLang="en-US" dirty="0" smtClean="0">
                    <a:solidFill>
                      <a:schemeClr val="bg1"/>
                    </a:solidFill>
                  </a:rPr>
                  <a:t>数据收集</a:t>
                </a:r>
                <a:r>
                  <a:rPr kumimoji="1" lang="en-US" altLang="zh-CN" dirty="0" smtClean="0">
                    <a:solidFill>
                      <a:schemeClr val="bg1"/>
                    </a:solidFill>
                  </a:rPr>
                  <a:t>/</a:t>
                </a:r>
                <a:r>
                  <a:rPr kumimoji="1" lang="zh-CN" altLang="en-US" dirty="0" smtClean="0">
                    <a:solidFill>
                      <a:schemeClr val="bg1"/>
                    </a:solidFill>
                  </a:rPr>
                  <a:t>处理</a:t>
                </a:r>
                <a:endParaRPr kumimoji="1" lang="zh-CN" altLang="en-US" dirty="0" smtClean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5852715" y="2642551"/>
              <a:ext cx="1605915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solidFill>
                    <a:schemeClr val="bg1"/>
                  </a:solidFill>
                </a:rPr>
                <a:t>3</a:t>
              </a:r>
              <a:r>
                <a:rPr kumimoji="1" lang="en-US" altLang="zh-CN" dirty="0" smtClean="0">
                  <a:solidFill>
                    <a:schemeClr val="bg1"/>
                  </a:solidFill>
                </a:rPr>
                <a:t>-4 </a:t>
              </a:r>
              <a:r>
                <a:rPr kumimoji="1" lang="zh-CN" altLang="en-US" dirty="0" smtClean="0">
                  <a:solidFill>
                    <a:schemeClr val="bg1"/>
                  </a:solidFill>
                </a:rPr>
                <a:t>问题成因</a:t>
              </a:r>
              <a:r>
                <a:rPr kumimoji="1" lang="en-US" altLang="zh-CN" dirty="0" smtClean="0">
                  <a:solidFill>
                    <a:schemeClr val="bg1"/>
                  </a:solidFill>
                </a:rPr>
                <a:t>/</a:t>
              </a:r>
              <a:r>
                <a:rPr kumimoji="1" lang="zh-CN" altLang="en-US" dirty="0" smtClean="0">
                  <a:solidFill>
                    <a:schemeClr val="bg1"/>
                  </a:solidFill>
                </a:rPr>
                <a:t>分析</a:t>
              </a:r>
              <a:endParaRPr kumimoji="1" lang="zh-CN" altLang="en-US" dirty="0" smtClean="0">
                <a:solidFill>
                  <a:schemeClr val="bg1"/>
                </a:solidFill>
              </a:endParaRPr>
            </a:p>
          </p:txBody>
        </p:sp>
      </p:grp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0">
        <p14:prism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26" grpId="0"/>
      <p:bldP spid="27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2509576" y="1855094"/>
            <a:ext cx="2027069" cy="62639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3078181" y="2500538"/>
            <a:ext cx="1467989" cy="73862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4480417" y="1478285"/>
            <a:ext cx="1909964" cy="102225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527120" y="2481487"/>
            <a:ext cx="2480804" cy="47464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65"/>
          <p:cNvSpPr txBox="1"/>
          <p:nvPr/>
        </p:nvSpPr>
        <p:spPr>
          <a:xfrm>
            <a:off x="739471" y="3845627"/>
            <a:ext cx="7633252" cy="78944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indent="342900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773229" y="1699776"/>
            <a:ext cx="1580066" cy="1580066"/>
            <a:chOff x="3761296" y="1104900"/>
            <a:chExt cx="1549400" cy="1549400"/>
          </a:xfrm>
        </p:grpSpPr>
        <p:sp>
          <p:nvSpPr>
            <p:cNvPr id="12" name="椭圆 11"/>
            <p:cNvSpPr/>
            <p:nvPr/>
          </p:nvSpPr>
          <p:spPr>
            <a:xfrm>
              <a:off x="3761296" y="1104900"/>
              <a:ext cx="1549400" cy="1549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34"/>
            <p:cNvSpPr txBox="1"/>
            <p:nvPr/>
          </p:nvSpPr>
          <p:spPr>
            <a:xfrm>
              <a:off x="3761296" y="1528754"/>
              <a:ext cx="1549400" cy="724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文字内容</a:t>
              </a:r>
              <a:endParaRPr lang="zh-CN" altLang="en-US" sz="2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930643" y="1002733"/>
            <a:ext cx="1241841" cy="831320"/>
            <a:chOff x="6352096" y="889280"/>
            <a:chExt cx="1549400" cy="1037208"/>
          </a:xfrm>
        </p:grpSpPr>
        <p:sp>
          <p:nvSpPr>
            <p:cNvPr id="15" name="椭圆 14"/>
            <p:cNvSpPr/>
            <p:nvPr/>
          </p:nvSpPr>
          <p:spPr>
            <a:xfrm>
              <a:off x="6608191" y="889280"/>
              <a:ext cx="1037208" cy="10372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40"/>
            <p:cNvSpPr txBox="1"/>
            <p:nvPr/>
          </p:nvSpPr>
          <p:spPr>
            <a:xfrm>
              <a:off x="6352096" y="1094603"/>
              <a:ext cx="1549400" cy="576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364275" y="1167298"/>
            <a:ext cx="1632108" cy="1092575"/>
            <a:chOff x="1277256" y="1121088"/>
            <a:chExt cx="1549400" cy="1037208"/>
          </a:xfrm>
        </p:grpSpPr>
        <p:sp>
          <p:nvSpPr>
            <p:cNvPr id="18" name="椭圆 17"/>
            <p:cNvSpPr/>
            <p:nvPr/>
          </p:nvSpPr>
          <p:spPr>
            <a:xfrm>
              <a:off x="1533352" y="1121088"/>
              <a:ext cx="1037208" cy="10372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43"/>
            <p:cNvSpPr txBox="1"/>
            <p:nvPr/>
          </p:nvSpPr>
          <p:spPr>
            <a:xfrm>
              <a:off x="1277256" y="1387687"/>
              <a:ext cx="1549400" cy="525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263395" y="2481487"/>
            <a:ext cx="1493726" cy="999938"/>
            <a:chOff x="7645400" y="1877556"/>
            <a:chExt cx="1549400" cy="1037208"/>
          </a:xfrm>
        </p:grpSpPr>
        <p:sp>
          <p:nvSpPr>
            <p:cNvPr id="21" name="椭圆 20"/>
            <p:cNvSpPr/>
            <p:nvPr/>
          </p:nvSpPr>
          <p:spPr>
            <a:xfrm>
              <a:off x="7901496" y="1877556"/>
              <a:ext cx="1037208" cy="10372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46"/>
            <p:cNvSpPr txBox="1"/>
            <p:nvPr/>
          </p:nvSpPr>
          <p:spPr>
            <a:xfrm>
              <a:off x="7645400" y="2144752"/>
              <a:ext cx="1549400" cy="542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926626" y="2766085"/>
            <a:ext cx="1534919" cy="1027514"/>
            <a:chOff x="5056696" y="2183559"/>
            <a:chExt cx="1549400" cy="1037208"/>
          </a:xfrm>
        </p:grpSpPr>
        <p:sp>
          <p:nvSpPr>
            <p:cNvPr id="24" name="椭圆 23"/>
            <p:cNvSpPr/>
            <p:nvPr/>
          </p:nvSpPr>
          <p:spPr>
            <a:xfrm>
              <a:off x="5312792" y="2183559"/>
              <a:ext cx="1037208" cy="10372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49"/>
            <p:cNvSpPr txBox="1"/>
            <p:nvPr/>
          </p:nvSpPr>
          <p:spPr>
            <a:xfrm>
              <a:off x="5056696" y="2457502"/>
              <a:ext cx="1549400" cy="5281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研究方法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408940"/>
            <a:ext cx="6829425" cy="457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440" y="858520"/>
            <a:ext cx="2362200" cy="38100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7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7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6" grpId="0"/>
      <p:bldP spid="27" grpId="0" bldLvl="0" animBg="1"/>
    </p:bldLst>
  </p:timing>
</p:sld>
</file>

<file path=ppt/tags/tag1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A000120140627A33KPBG</Template>
  <TotalTime>0</TotalTime>
  <Words>603</Words>
  <Application>WPS 演示</Application>
  <PresentationFormat>On-screen Show (16:9)</PresentationFormat>
  <Paragraphs>112</Paragraphs>
  <Slides>5</Slides>
  <Notes>39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 Black</vt:lpstr>
      <vt:lpstr>Wingdings 2</vt:lpstr>
      <vt:lpstr>Wingdings</vt:lpstr>
      <vt:lpstr>幼圆</vt:lpstr>
      <vt:lpstr>Calibri</vt:lpstr>
      <vt:lpstr>Calibri</vt:lpstr>
      <vt:lpstr>Agency FB</vt:lpstr>
      <vt:lpstr>Trebuchet MS</vt:lpstr>
      <vt:lpstr>Times New Roman</vt:lpstr>
      <vt:lpstr>Swiss911 UCm BT</vt:lpstr>
      <vt:lpstr>Impact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阿斌哥</cp:lastModifiedBy>
  <cp:revision>11</cp:revision>
  <dcterms:created xsi:type="dcterms:W3CDTF">2022-02-18T23:59:00Z</dcterms:created>
  <dcterms:modified xsi:type="dcterms:W3CDTF">2026-01-21T00:19:03Z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5BA3F6AB1EA94652A0A33DB50B4D9744</vt:lpwstr>
  </property>
  <property fmtid="{D5CDD505-2E9C-101B-9397-08002B2CF9AE}" pid="3" name="KSOProductBuildVer">
    <vt:lpwstr>2052-12.1.0.24657</vt:lpwstr>
  </property>
</Properties>
</file>